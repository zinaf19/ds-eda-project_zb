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4" r:id="rId3"/>
    <p:sldId id="259" r:id="rId4"/>
    <p:sldId id="263" r:id="rId5"/>
    <p:sldId id="262" r:id="rId6"/>
    <p:sldId id="275" r:id="rId7"/>
    <p:sldId id="279" r:id="rId8"/>
    <p:sldId id="267" r:id="rId9"/>
    <p:sldId id="268" r:id="rId10"/>
    <p:sldId id="269" r:id="rId11"/>
    <p:sldId id="277" r:id="rId12"/>
    <p:sldId id="278" r:id="rId13"/>
    <p:sldId id="272" r:id="rId14"/>
    <p:sldId id="273"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C5A85-3879-4BE1-820B-56ED55543006}" v="157" dt="2026-09-18T10:55:11.133"/>
    <p1510:client id="{7513A17D-CBB5-403F-8B5B-2411EEE57AAC}" v="97" dt="2026-09-17T20:58:00.7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1295C"/>
                </a:solidFill>
                <a:latin typeface="Calibri"/>
              </a:defRPr>
            </a:pPr>
            <a:r>
              <a:rPr lang="en-US" sz="1400" b="0" i="0" u="none" strike="noStrike">
                <a:solidFill>
                  <a:srgbClr val="21295C"/>
                </a:solidFill>
                <a:latin typeface="Calibri"/>
              </a:rPr>
              <a:t>A 457% Premium</a:t>
            </a:r>
          </a:p>
        </c:rich>
      </c:tx>
      <c:overlay val="0"/>
    </c:title>
    <c:autoTitleDeleted val="0"/>
    <c:plotArea>
      <c:layout/>
      <c:barChart>
        <c:barDir val="col"/>
        <c:grouping val="clustered"/>
        <c:varyColors val="0"/>
        <c:ser>
          <c:idx val="0"/>
          <c:order val="0"/>
          <c:tx>
            <c:strRef>
              <c:f>Sheet1!$B$1</c:f>
              <c:strCache>
                <c:ptCount val="1"/>
                <c:pt idx="0">
                  <c:v>Median Price</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4371-418D-BC04-1155354DDACD}"/>
              </c:ext>
            </c:extLst>
          </c:dPt>
          <c:dPt>
            <c:idx val="1"/>
            <c:invertIfNegative val="0"/>
            <c:bubble3D val="0"/>
            <c:spPr>
              <a:solidFill>
                <a:srgbClr val="C44E52"/>
              </a:solidFill>
              <a:effectLst/>
            </c:spPr>
            <c:extLst>
              <c:ext xmlns:c16="http://schemas.microsoft.com/office/drawing/2014/chart" uri="{C3380CC4-5D6E-409C-BE32-E72D297353CC}">
                <c16:uniqueId val="{00000003-4371-418D-BC04-1155354DDACD}"/>
              </c:ext>
            </c:extLst>
          </c:dPt>
          <c:dLbls>
            <c:numFmt formatCode="&quot;$&quot;#,##0" sourceLinked="0"/>
            <c:spPr>
              <a:noFill/>
              <a:ln>
                <a:noFill/>
              </a:ln>
              <a:effectLst/>
            </c:spPr>
            <c:txPr>
              <a:bodyPr/>
              <a:lstStyle/>
              <a:p>
                <a:pPr>
                  <a:defRPr sz="11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County Median</c:v>
                </c:pt>
                <c:pt idx="1">
                  <c:v>Waterfront +
Grade ≥10</c:v>
                </c:pt>
              </c:strCache>
            </c:strRef>
          </c:cat>
          <c:val>
            <c:numRef>
              <c:f>Sheet1!$B$2:$B$3</c:f>
              <c:numCache>
                <c:formatCode>General</c:formatCode>
                <c:ptCount val="2"/>
                <c:pt idx="0">
                  <c:v>450550</c:v>
                </c:pt>
                <c:pt idx="1">
                  <c:v>2510000</c:v>
                </c:pt>
              </c:numCache>
            </c:numRef>
          </c:val>
          <c:extLst>
            <c:ext xmlns:c16="http://schemas.microsoft.com/office/drawing/2014/chart" uri="{C3380CC4-5D6E-409C-BE32-E72D297353CC}">
              <c16:uniqueId val="{00000004-4371-418D-BC04-1155354DDAC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50" b="0" i="0" u="none" strike="noStrike">
                <a:solidFill>
                  <a:srgbClr val="21295C"/>
                </a:solidFill>
                <a:latin typeface="Calibri"/>
              </a:defRPr>
            </a:pPr>
            <a:r>
              <a:rPr lang="en-US" sz="1350" b="0" i="0" u="none" strike="noStrike">
                <a:solidFill>
                  <a:srgbClr val="21295C"/>
                </a:solidFill>
                <a:latin typeface="Calibri"/>
              </a:rPr>
              <a:t>Renovation Still Adds Value — At the Same Condition Level</a:t>
            </a:r>
          </a:p>
        </c:rich>
      </c:tx>
      <c:overlay val="0"/>
    </c:title>
    <c:autoTitleDeleted val="0"/>
    <c:plotArea>
      <c:layout/>
      <c:barChart>
        <c:barDir val="col"/>
        <c:grouping val="clustered"/>
        <c:varyColors val="0"/>
        <c:ser>
          <c:idx val="0"/>
          <c:order val="0"/>
          <c:tx>
            <c:strRef>
              <c:f>Sheet1!$B$1</c:f>
              <c:strCache>
                <c:ptCount val="1"/>
                <c:pt idx="0">
                  <c:v>Not Renovated</c:v>
                </c:pt>
              </c:strCache>
            </c:strRef>
          </c:tx>
          <c:spPr>
            <a:solidFill>
              <a:srgbClr val="1C7293"/>
            </a:solidFill>
            <a:effectLst/>
          </c:spPr>
          <c:invertIfNegative val="0"/>
          <c:dLbls>
            <c:numFmt formatCode="&quot;$&quot;#,##0,&quot;K&quot;" sourceLinked="0"/>
            <c:spPr>
              <a:noFill/>
              <a:ln>
                <a:noFill/>
              </a:ln>
              <a:effectLst/>
            </c:spPr>
            <c:txPr>
              <a:bodyPr/>
              <a:lstStyle/>
              <a:p>
                <a:pPr>
                  <a:defRPr sz="95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Condition 1</c:v>
                </c:pt>
                <c:pt idx="1">
                  <c:v>Condition 2</c:v>
                </c:pt>
                <c:pt idx="2">
                  <c:v>Condition 3</c:v>
                </c:pt>
                <c:pt idx="3">
                  <c:v>Condition 4</c:v>
                </c:pt>
                <c:pt idx="4">
                  <c:v>Condition 5</c:v>
                </c:pt>
              </c:strCache>
            </c:strRef>
          </c:cat>
          <c:val>
            <c:numRef>
              <c:f>Sheet1!$B$2:$B$6</c:f>
              <c:numCache>
                <c:formatCode>General</c:formatCode>
                <c:ptCount val="5"/>
                <c:pt idx="0">
                  <c:v>295000</c:v>
                </c:pt>
                <c:pt idx="1">
                  <c:v>280000</c:v>
                </c:pt>
                <c:pt idx="2">
                  <c:v>450000</c:v>
                </c:pt>
                <c:pt idx="3">
                  <c:v>439725</c:v>
                </c:pt>
                <c:pt idx="4">
                  <c:v>526750</c:v>
                </c:pt>
              </c:numCache>
            </c:numRef>
          </c:val>
          <c:extLst>
            <c:ext xmlns:c16="http://schemas.microsoft.com/office/drawing/2014/chart" uri="{C3380CC4-5D6E-409C-BE32-E72D297353CC}">
              <c16:uniqueId val="{00000000-E022-48F0-B927-E3848DBF6BED}"/>
            </c:ext>
          </c:extLst>
        </c:ser>
        <c:ser>
          <c:idx val="1"/>
          <c:order val="1"/>
          <c:tx>
            <c:strRef>
              <c:f>Sheet1!$C$1</c:f>
              <c:strCache>
                <c:ptCount val="1"/>
                <c:pt idx="0">
                  <c:v>Renovated</c:v>
                </c:pt>
              </c:strCache>
            </c:strRef>
          </c:tx>
          <c:spPr>
            <a:solidFill>
              <a:srgbClr val="C44E52"/>
            </a:solidFill>
            <a:effectLst/>
          </c:spPr>
          <c:invertIfNegative val="0"/>
          <c:dLbls>
            <c:numFmt formatCode="&quot;$&quot;#,##0,&quot;K&quot;" sourceLinked="0"/>
            <c:spPr>
              <a:noFill/>
              <a:ln>
                <a:noFill/>
              </a:ln>
              <a:effectLst/>
            </c:spPr>
            <c:txPr>
              <a:bodyPr/>
              <a:lstStyle/>
              <a:p>
                <a:pPr>
                  <a:defRPr sz="95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Condition 1</c:v>
                </c:pt>
                <c:pt idx="1">
                  <c:v>Condition 2</c:v>
                </c:pt>
                <c:pt idx="2">
                  <c:v>Condition 3</c:v>
                </c:pt>
                <c:pt idx="3">
                  <c:v>Condition 4</c:v>
                </c:pt>
                <c:pt idx="4">
                  <c:v>Condition 5</c:v>
                </c:pt>
              </c:strCache>
            </c:strRef>
          </c:cat>
          <c:val>
            <c:numRef>
              <c:f>Sheet1!$C$2:$C$6</c:f>
              <c:numCache>
                <c:formatCode>General</c:formatCode>
                <c:ptCount val="5"/>
                <c:pt idx="0">
                  <c:v>252000</c:v>
                </c:pt>
                <c:pt idx="1">
                  <c:v>250000</c:v>
                </c:pt>
                <c:pt idx="2">
                  <c:v>625000</c:v>
                </c:pt>
                <c:pt idx="3">
                  <c:v>600000</c:v>
                </c:pt>
                <c:pt idx="4">
                  <c:v>733000</c:v>
                </c:pt>
              </c:numCache>
            </c:numRef>
          </c:val>
          <c:extLst>
            <c:ext xmlns:c16="http://schemas.microsoft.com/office/drawing/2014/chart" uri="{C3380CC4-5D6E-409C-BE32-E72D297353CC}">
              <c16:uniqueId val="{00000001-E022-48F0-B927-E3848DBF6BED}"/>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1F293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D17405C-25E2-43CA-9F5F-6BDA0A8FBE14}" type="datetimeFigureOut">
              <a:t>9/18/2026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B58DC0E-573F-4192-9F86-59E5A2166B46}" type="slidenum">
              <a:t>‹#›</a:t>
            </a:fld>
            <a:endParaRPr lang="en-US"/>
          </a:p>
        </p:txBody>
      </p:sp>
    </p:spTree>
    <p:extLst>
      <p:ext uri="{BB962C8B-B14F-4D97-AF65-F5344CB8AC3E}">
        <p14:creationId xmlns:p14="http://schemas.microsoft.com/office/powerpoint/2010/main" val="1303312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Zina Beek. I work at Puget Sound Home Advisors, and today I want to walk you through a normal day in our job — the process we follow when a client hands us a wish list and asks us to find their dream house."</a:t>
            </a:r>
          </a:p>
          <a:p>
            <a:r>
              <a:rPr lang="en-US" dirty="0"/>
              <a:t>"Let me tell you about one case that came across my desk: a client I'll call Jennifer Montgomery. Jennifer came to us with seven wishes...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 Ms. Montgomery walked in, I knew this one would be memorable. A rich woman, high budget, no interest in waiting — she wanted a house within a month. It had to be renovated, on the waterfront, and top-graded construction. And she already had her exit plan: she was going to resell it within a year. Seven wishes, one client, and every one of them was about to shape how I searched.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before I tell you how I actually searched for Jennifer's house, let me pause for a second and tell you what I was assuming going in. Real-estate wisdom makes a few claims: that the nicest homes cluster in a handful of neighborhoods instead of spreading evenly across the county; that waterfront, high grade, and renovation should each add real value on their own; and that a quick resale — buying and selling within about a year — should usually pay off. I didn't want to just take those on faith. So let's see if the data actually agrees.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even started the real search, I wanted to know how realistic Jennifer's wish list actually was. So I checked each wish on its own, against every house in the county. Waterfront turned out to be the real bottleneck — just 146 homes out of 21,420. High budget and high grade weren't nearly as rare by themselves. But Jennifer didn't want just one wish — she wanted most of them at once. Ask for at least three of the four together, and the county narrows to 121. Ask for all four, and there are only six houses left.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each of these six houses is identified by its zip code on this chart — alongside its price and grade, so nothing is hidden behind a number — I'll refer to them the same way as we go through this.</a:t>
            </a:r>
          </a:p>
          <a:p>
            <a:r>
              <a:rPr lang="en-US" dirty="0"/>
              <a:t>At the top of this ranking is 98040 — the highest grade here at 12, and by far the biggest gap over its neighbors, at 6,370 square feet. It's also the second most expensive of the six, at $4.67 million. Right behind it, 98004 is even pricier at $7.06 million and just as oversized relative to its neighbors, but its grade is one point lower, at 11. Together, these two are clearly the most impressive of the six — everything below them on this list is noticeably smaller and far less dramatic by comparison."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Three Real Choices for Jennifer</a:t>
            </a:r>
            <a:endParaRPr lang="en-US" dirty="0"/>
          </a:p>
          <a:p>
            <a:r>
              <a:rPr lang="en-US" dirty="0"/>
              <a:t>"After every filter, three real houses were left standing — all three on the water, and each one telling a different story.</a:t>
            </a:r>
            <a:endParaRPr lang="en-US" dirty="0">
              <a:ea typeface="Calibri"/>
              <a:cs typeface="Calibri"/>
            </a:endParaRPr>
          </a:p>
          <a:p>
            <a:r>
              <a:rPr lang="en-US" dirty="0"/>
              <a:t>98105 comes in at $3.65 million, with a grade of 11 out of 13 and a condition score of 5 out of 5 — the highest of the three. It's never been renovated, and at 1,936 built, it hasn't needed to be; it still stands nearly 2,000 square feet bigger than the homes around it.</a:t>
            </a:r>
            <a:endParaRPr lang="en-US" dirty="0">
              <a:ea typeface="Calibri"/>
              <a:cs typeface="Calibri"/>
            </a:endParaRPr>
          </a:p>
          <a:p>
            <a:r>
              <a:rPr lang="en-US" dirty="0"/>
              <a:t>98040 is priced at $4.67 million and carries the highest grade of the group, a 12 out of 13. Its condition sits at 3 out of 5, which tracks with its history — it was renovated in 2009, on a house originally built in 1983. It's also the biggest standout against its neighbors, at 6,370 square feet over.</a:t>
            </a:r>
            <a:endParaRPr lang="en-US" dirty="0">
              <a:ea typeface="Calibri"/>
              <a:cs typeface="Calibri"/>
            </a:endParaRPr>
          </a:p>
          <a:p>
            <a:r>
              <a:rPr lang="en-US" dirty="0"/>
              <a:t>98004 is the largest investment at $7.06 million — nearly double the first house. It matches an 11 out of 13 grade, was renovated back in 2001, and was originally built in 1940. Like 98040, it towers over its neighbors, coming in 6,110 square feet bigger.</a:t>
            </a:r>
            <a:endParaRPr lang="en-US" dirty="0">
              <a:ea typeface="Calibri"/>
              <a:cs typeface="Calibri"/>
            </a:endParaRPr>
          </a:p>
          <a:p>
            <a:r>
              <a:rPr lang="en-US" strike="sngStrike" dirty="0"/>
              <a:t>Three houses, three different paths to the same result: one that never needed touching, one that earned a higher grade through renovation, and one that goes bigger and bolder than either. Jennifer has three genuinely strong options to choose from."</a:t>
            </a:r>
            <a:endParaRPr lang="en-US" strike="sngStrike">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CEA7F-9957-012E-CAAA-36A4CEEA2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00441-DD2F-3148-FE9C-918927E76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C2AEC-87D6-C2BF-7F30-290806EF6C01}"/>
              </a:ext>
            </a:extLst>
          </p:cNvPr>
          <p:cNvSpPr>
            <a:spLocks noGrp="1"/>
          </p:cNvSpPr>
          <p:nvPr>
            <p:ph type="body" idx="1"/>
          </p:nvPr>
        </p:nvSpPr>
        <p:spPr/>
        <p:txBody>
          <a:bodyPr/>
          <a:lstStyle/>
          <a:p>
            <a:r>
              <a:rPr lang="en-US" dirty="0"/>
              <a:t>"98040, verified on the map — a real waterfront lot on Butterworth Rd, Mercer Island, on Lake Washington. $4.67 million, grade 12 of 13, the highest of the three — thanks to a 2009 renovation on a 1983 build. Not just a spreadsheet row; a real address."</a:t>
            </a:r>
          </a:p>
        </p:txBody>
      </p:sp>
      <p:sp>
        <p:nvSpPr>
          <p:cNvPr id="4" name="Slide Number Placeholder 3">
            <a:extLst>
              <a:ext uri="{FF2B5EF4-FFF2-40B4-BE49-F238E27FC236}">
                <a16:creationId xmlns:a16="http://schemas.microsoft.com/office/drawing/2014/main" id="{731D402E-221C-5C82-3372-82E15F6BAB6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15398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real candidates — not just criteria on paper — let's go back and see if those three assumptions actually held up.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Clustering: Confirmed: 47% of all waterfront, high-grade homes sit in just 5 of King County's 70 zip codes — Mercer Island, Bellevue, Sammamish, and north Seattle. Jennifer's search was never really county-wide; it's a search of a handful of neighborhoods.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Premium Pricing: </a:t>
            </a:r>
            <a:r>
              <a:rPr lang="en-US" dirty="0"/>
              <a:t>Confirmed: waterfront plus high grade sells for over 4x the county median. And renovation adds its own separate boost — 36–39% — even comparing homes at the exact same condition level.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"Resale Reality: Confirmed, with a catch — 95% of homes resold within about a year gained value. But the eye-catching 57% average is inflated by cheap fixer-upper flips. There's no repeat sale of a home like Jennifer's — waterfront, high-grade — anywhere in the data, so the closest real evidence we have is the 35 higher-priced homes that actually resold: a median gain of +20.6%. That's the realistic number for her plan — not a guarantee, but the best honest estimate the data supports."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recommendations, and each one comes with an assumption I want to be upfront about. First — search the prestige clusters. The best homes concentrate in a handful of zip codes, not spread evenly across the county. Second — move on the home in zip 98040. Of the three candidates we compared, it has the highest grade — a 12 out of 13 — and it stands out the most from its neighbors, a result of its 2009 renovation. That assumes its condition and features are unchanged since its last recorded sale. Third — set a realistic resale target. Budget for a moderate ~20% gain if reselling within a year, not the inflated 57% county-wide headline — but nothing directly comparable to this home has ever actually resold in the data, so this is the closest real estimate we have, not a guarantee."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caveats: we don't have real listing or days-on-market data, no repeat-sold house in the data was confirmed waterfront, the renovation premium is a correlation not proof of causation, some fields needed cleaning assumptions, and this is 2014–15 data, not today's market.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1C3A6B"/>
          </a:solidFill>
          <a:ln/>
        </p:spPr>
      </p:sp>
      <p:sp>
        <p:nvSpPr>
          <p:cNvPr id="3" name="Shape 1"/>
          <p:cNvSpPr/>
          <p:nvPr/>
        </p:nvSpPr>
        <p:spPr>
          <a:xfrm>
            <a:off x="10698480" y="4206240"/>
            <a:ext cx="2743200" cy="2743200"/>
          </a:xfrm>
          <a:prstGeom prst="ellipse">
            <a:avLst/>
          </a:prstGeom>
          <a:solidFill>
            <a:srgbClr val="1A2F57"/>
          </a:solidFill>
          <a:ln/>
        </p:spPr>
      </p:sp>
      <p:sp>
        <p:nvSpPr>
          <p:cNvPr id="4" name="Text 2"/>
          <p:cNvSpPr txBox="1"/>
          <p:nvPr/>
        </p:nvSpPr>
        <p:spPr>
          <a:xfrm>
            <a:off x="548640" y="2423746"/>
            <a:ext cx="9601200" cy="1005840"/>
          </a:xfrm>
          <a:prstGeom prst="rect">
            <a:avLst/>
          </a:prstGeom>
          <a:noFill/>
          <a:ln/>
        </p:spPr>
        <p:txBody>
          <a:bodyPr wrap="square" lIns="0" tIns="0" rIns="0" bIns="0" rtlCol="0" anchor="ctr"/>
          <a:lstStyle/>
          <a:p>
            <a:r>
              <a:rPr lang="en-US" sz="4000" dirty="0">
                <a:solidFill>
                  <a:srgbClr val="FFFFFF"/>
                </a:solidFill>
                <a:latin typeface="Bookman Old Style"/>
                <a:ea typeface="+mn-lt"/>
                <a:cs typeface="+mn-lt"/>
              </a:rPr>
              <a:t>CAN THE DATA FIND YOU A DREAM HOME?</a:t>
            </a:r>
            <a:endParaRPr lang="en-US" dirty="0">
              <a:latin typeface="Bookman Old Style"/>
            </a:endParaRPr>
          </a:p>
        </p:txBody>
      </p:sp>
      <p:sp>
        <p:nvSpPr>
          <p:cNvPr id="5" name="Text 3"/>
          <p:cNvSpPr txBox="1"/>
          <p:nvPr/>
        </p:nvSpPr>
        <p:spPr>
          <a:xfrm>
            <a:off x="548640" y="4326988"/>
            <a:ext cx="8260080" cy="548640"/>
          </a:xfrm>
          <a:prstGeom prst="rect">
            <a:avLst/>
          </a:prstGeom>
          <a:noFill/>
          <a:ln/>
        </p:spPr>
        <p:txBody>
          <a:bodyPr wrap="square" lIns="0" tIns="0" rIns="0" bIns="0" rtlCol="0" anchor="ctr"/>
          <a:lstStyle/>
          <a:p>
            <a:r>
              <a:rPr lang="en-US" sz="2400" dirty="0">
                <a:solidFill>
                  <a:srgbClr val="CADCFC"/>
                </a:solidFill>
                <a:ea typeface="+mn-lt"/>
                <a:cs typeface="+mn-lt"/>
              </a:rPr>
              <a:t>An EDA case study: turning one client's wish list into King County's best-matched house</a:t>
            </a:r>
            <a:endParaRPr lang="en-US" sz="2400" dirty="0"/>
          </a:p>
        </p:txBody>
      </p:sp>
      <p:sp>
        <p:nvSpPr>
          <p:cNvPr id="8" name="Text 6"/>
          <p:cNvSpPr txBox="1"/>
          <p:nvPr/>
        </p:nvSpPr>
        <p:spPr>
          <a:xfrm>
            <a:off x="548640" y="6126480"/>
            <a:ext cx="7315200" cy="365760"/>
          </a:xfrm>
          <a:prstGeom prst="rect">
            <a:avLst/>
          </a:prstGeom>
          <a:noFill/>
          <a:ln/>
        </p:spPr>
        <p:txBody>
          <a:bodyPr wrap="square" lIns="0" tIns="0" rIns="0" bIns="0" rtlCol="0" anchor="ctr"/>
          <a:lstStyle/>
          <a:p>
            <a:r>
              <a:rPr lang="en-US" sz="1600" dirty="0">
                <a:solidFill>
                  <a:srgbClr val="9FB3D8"/>
                </a:solidFill>
                <a:ea typeface="+mn-lt"/>
                <a:cs typeface="+mn-lt"/>
              </a:rPr>
              <a:t>Zina Beek | Puget Sound Home Advisors</a:t>
            </a:r>
            <a:endParaRPr lang="en-US" sz="1600">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Meet Jennifer Montgomery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A6B75"/>
                </a:solidFill>
                <a:latin typeface="Calibri" pitchFamily="34" charset="0"/>
                <a:ea typeface="Calibri" pitchFamily="34" charset="-122"/>
                <a:cs typeface="Calibri" pitchFamily="34" charset="-120"/>
              </a:rPr>
              <a:t>A rich, decisive buyer with seven very specific priorities</a:t>
            </a:r>
            <a:endParaRPr lang="en-US" sz="1500" dirty="0"/>
          </a:p>
        </p:txBody>
      </p:sp>
      <p:sp>
        <p:nvSpPr>
          <p:cNvPr id="4" name="Shape 2"/>
          <p:cNvSpPr/>
          <p:nvPr/>
        </p:nvSpPr>
        <p:spPr>
          <a:xfrm>
            <a:off x="548640" y="1600200"/>
            <a:ext cx="4206240" cy="4617720"/>
          </a:xfrm>
          <a:prstGeom prst="roundRect">
            <a:avLst>
              <a:gd name="adj" fmla="val 2609"/>
            </a:avLst>
          </a:prstGeom>
          <a:solidFill>
            <a:srgbClr val="21295C"/>
          </a:solidFill>
          <a:ln/>
          <a:effectLst>
            <a:outerShdw blurRad="76200" dist="25400" dir="5400000" algn="bl" rotWithShape="0">
              <a:srgbClr val="1A1A1A">
                <a:alpha val="15000"/>
              </a:srgbClr>
            </a:outerShdw>
          </a:effectLst>
        </p:spPr>
      </p:sp>
      <p:sp>
        <p:nvSpPr>
          <p:cNvPr id="5" name="Shape 3"/>
          <p:cNvSpPr/>
          <p:nvPr/>
        </p:nvSpPr>
        <p:spPr>
          <a:xfrm>
            <a:off x="1600200" y="1920240"/>
            <a:ext cx="2103120" cy="2103120"/>
          </a:xfrm>
          <a:prstGeom prst="ellipse">
            <a:avLst/>
          </a:prstGeom>
          <a:solidFill>
            <a:srgbClr val="2A3B6B"/>
          </a:solidFill>
          <a:ln/>
        </p:spPr>
      </p:sp>
      <p:sp>
        <p:nvSpPr>
          <p:cNvPr id="6" name="Shape 4"/>
          <p:cNvSpPr/>
          <p:nvPr/>
        </p:nvSpPr>
        <p:spPr>
          <a:xfrm>
            <a:off x="1874520" y="2194560"/>
            <a:ext cx="1554480" cy="1554480"/>
          </a:xfrm>
          <a:prstGeom prst="ellipse">
            <a:avLst/>
          </a:prstGeom>
          <a:solidFill>
            <a:srgbClr val="C44E52"/>
          </a:solidFill>
          <a:ln/>
        </p:spPr>
      </p:sp>
      <p:sp>
        <p:nvSpPr>
          <p:cNvPr id="7" name="Text 5"/>
          <p:cNvSpPr txBox="1"/>
          <p:nvPr/>
        </p:nvSpPr>
        <p:spPr>
          <a:xfrm>
            <a:off x="1874520" y="2194560"/>
            <a:ext cx="1554480" cy="155448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JM</a:t>
            </a:r>
            <a:endParaRPr lang="en-US" sz="4000" dirty="0"/>
          </a:p>
        </p:txBody>
      </p:sp>
      <p:sp>
        <p:nvSpPr>
          <p:cNvPr id="8" name="Text 6"/>
          <p:cNvSpPr txBox="1"/>
          <p:nvPr/>
        </p:nvSpPr>
        <p:spPr>
          <a:xfrm>
            <a:off x="822960" y="3886200"/>
            <a:ext cx="36576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Jennifer Montgomery</a:t>
            </a:r>
            <a:endParaRPr lang="en-US" sz="2000" dirty="0"/>
          </a:p>
        </p:txBody>
      </p:sp>
      <p:sp>
        <p:nvSpPr>
          <p:cNvPr id="9" name="Shape 7"/>
          <p:cNvSpPr/>
          <p:nvPr/>
        </p:nvSpPr>
        <p:spPr>
          <a:xfrm>
            <a:off x="1874520" y="4389120"/>
            <a:ext cx="1554480" cy="365760"/>
          </a:xfrm>
          <a:prstGeom prst="roundRect">
            <a:avLst>
              <a:gd name="adj" fmla="val 20000"/>
            </a:avLst>
          </a:prstGeom>
          <a:solidFill>
            <a:srgbClr val="C44E52"/>
          </a:solidFill>
          <a:ln/>
        </p:spPr>
      </p:sp>
      <p:sp>
        <p:nvSpPr>
          <p:cNvPr id="10" name="Text 8"/>
          <p:cNvSpPr txBox="1"/>
          <p:nvPr/>
        </p:nvSpPr>
        <p:spPr>
          <a:xfrm>
            <a:off x="1874520" y="438912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VIP BUYER</a:t>
            </a:r>
            <a:endParaRPr lang="en-US" sz="1300" dirty="0"/>
          </a:p>
        </p:txBody>
      </p:sp>
      <p:sp>
        <p:nvSpPr>
          <p:cNvPr id="11" name="Text 9"/>
          <p:cNvSpPr txBox="1"/>
          <p:nvPr/>
        </p:nvSpPr>
        <p:spPr>
          <a:xfrm>
            <a:off x="914400" y="4937760"/>
            <a:ext cx="3474720" cy="914400"/>
          </a:xfrm>
          <a:prstGeom prst="rect">
            <a:avLst/>
          </a:prstGeom>
          <a:noFill/>
          <a:ln/>
        </p:spPr>
        <p:txBody>
          <a:bodyPr wrap="square" lIns="0" tIns="0" rIns="0" bIns="0" rtlCol="0" anchor="t"/>
          <a:lstStyle/>
          <a:p>
            <a:pPr marL="0" indent="0" algn="ctr">
              <a:buNone/>
            </a:pPr>
            <a:r>
              <a:rPr lang="en-US" sz="1250" dirty="0">
                <a:solidFill>
                  <a:srgbClr val="CADCFC"/>
                </a:solidFill>
                <a:latin typeface="Calibri" pitchFamily="34" charset="0"/>
                <a:ea typeface="Calibri" pitchFamily="34" charset="-122"/>
                <a:cs typeface="Calibri" pitchFamily="34" charset="-120"/>
              </a:rPr>
              <a:t>Rich, decisive, and impatient — Jennifer doesn't wait around, and she wants a home that makes a statement.</a:t>
            </a:r>
            <a:endParaRPr lang="en-US" sz="1250" dirty="0"/>
          </a:p>
        </p:txBody>
      </p:sp>
      <p:sp>
        <p:nvSpPr>
          <p:cNvPr id="12" name="Text 10"/>
          <p:cNvSpPr txBox="1"/>
          <p:nvPr/>
        </p:nvSpPr>
        <p:spPr>
          <a:xfrm>
            <a:off x="914400" y="5577840"/>
            <a:ext cx="3474720" cy="457200"/>
          </a:xfrm>
          <a:prstGeom prst="rect">
            <a:avLst/>
          </a:prstGeom>
          <a:noFill/>
          <a:ln/>
        </p:spPr>
        <p:txBody>
          <a:bodyPr wrap="square" lIns="0" tIns="0" rIns="0" bIns="0" rtlCol="0" anchor="ctr"/>
          <a:lstStyle/>
          <a:p>
            <a:pPr marL="0" indent="0" algn="ctr">
              <a:buNone/>
            </a:pPr>
            <a:r>
              <a:rPr lang="en-US" sz="1350" i="1" dirty="0">
                <a:solidFill>
                  <a:srgbClr val="C44E52"/>
                </a:solidFill>
                <a:latin typeface="Cambria" pitchFamily="34" charset="0"/>
                <a:ea typeface="Cambria" pitchFamily="34" charset="-122"/>
                <a:cs typeface="Cambria" pitchFamily="34" charset="-120"/>
              </a:rPr>
              <a:t>“Find it fast. Make it unforgettable.”</a:t>
            </a:r>
            <a:endParaRPr lang="en-US" sz="1350" dirty="0"/>
          </a:p>
        </p:txBody>
      </p:sp>
      <p:sp>
        <p:nvSpPr>
          <p:cNvPr id="13" name="Text 11"/>
          <p:cNvSpPr txBox="1"/>
          <p:nvPr/>
        </p:nvSpPr>
        <p:spPr>
          <a:xfrm>
            <a:off x="5074920" y="1645920"/>
            <a:ext cx="6568135" cy="365760"/>
          </a:xfrm>
          <a:prstGeom prst="rect">
            <a:avLst/>
          </a:prstGeom>
          <a:noFill/>
          <a:ln/>
        </p:spPr>
        <p:txBody>
          <a:bodyPr wrap="square" lIns="0" tIns="0" rIns="0" bIns="0" rtlCol="0" anchor="ctr"/>
          <a:lstStyle/>
          <a:p>
            <a:pPr marL="0" indent="0">
              <a:buNone/>
            </a:pPr>
            <a:r>
              <a:rPr lang="en-US" sz="1300" b="1" dirty="0">
                <a:solidFill>
                  <a:srgbClr val="5A6B75"/>
                </a:solidFill>
                <a:latin typeface="Calibri" pitchFamily="34" charset="0"/>
                <a:ea typeface="Calibri" pitchFamily="34" charset="-122"/>
                <a:cs typeface="Calibri" pitchFamily="34" charset="-120"/>
              </a:rPr>
              <a:t>Her Wish List</a:t>
            </a:r>
            <a:endParaRPr lang="en-US" sz="1300" dirty="0"/>
          </a:p>
        </p:txBody>
      </p:sp>
      <p:sp>
        <p:nvSpPr>
          <p:cNvPr id="14" name="Shape 12"/>
          <p:cNvSpPr/>
          <p:nvPr/>
        </p:nvSpPr>
        <p:spPr>
          <a:xfrm>
            <a:off x="5074920" y="2057400"/>
            <a:ext cx="6568135" cy="502920"/>
          </a:xfrm>
          <a:prstGeom prst="roundRect">
            <a:avLst>
              <a:gd name="adj" fmla="val 12727"/>
            </a:avLst>
          </a:prstGeom>
          <a:solidFill>
            <a:srgbClr val="F2F6F8"/>
          </a:solidFill>
          <a:ln/>
        </p:spPr>
      </p:sp>
      <p:sp>
        <p:nvSpPr>
          <p:cNvPr id="15" name="Shape 13"/>
          <p:cNvSpPr/>
          <p:nvPr/>
        </p:nvSpPr>
        <p:spPr>
          <a:xfrm>
            <a:off x="5074920" y="2057400"/>
            <a:ext cx="73152" cy="502920"/>
          </a:xfrm>
          <a:prstGeom prst="roundRect">
            <a:avLst/>
          </a:prstGeom>
          <a:solidFill>
            <a:srgbClr val="065A82"/>
          </a:solidFill>
          <a:ln/>
        </p:spPr>
      </p:sp>
      <p:sp>
        <p:nvSpPr>
          <p:cNvPr id="16" name="Text 14"/>
          <p:cNvSpPr txBox="1"/>
          <p:nvPr/>
        </p:nvSpPr>
        <p:spPr>
          <a:xfrm>
            <a:off x="5349240" y="2057400"/>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High budget</a:t>
            </a:r>
            <a:endParaRPr lang="en-US" sz="1350" dirty="0"/>
          </a:p>
        </p:txBody>
      </p:sp>
      <p:sp>
        <p:nvSpPr>
          <p:cNvPr id="17" name="Text 15"/>
          <p:cNvSpPr txBox="1"/>
          <p:nvPr/>
        </p:nvSpPr>
        <p:spPr>
          <a:xfrm>
            <a:off x="8358988" y="2057400"/>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money's not the limit</a:t>
            </a:r>
            <a:endParaRPr lang="en-US" sz="1100" dirty="0"/>
          </a:p>
        </p:txBody>
      </p:sp>
      <p:sp>
        <p:nvSpPr>
          <p:cNvPr id="18" name="Shape 16"/>
          <p:cNvSpPr/>
          <p:nvPr/>
        </p:nvSpPr>
        <p:spPr>
          <a:xfrm>
            <a:off x="5074920" y="2633472"/>
            <a:ext cx="6568135" cy="502920"/>
          </a:xfrm>
          <a:prstGeom prst="roundRect">
            <a:avLst>
              <a:gd name="adj" fmla="val 12727"/>
            </a:avLst>
          </a:prstGeom>
          <a:solidFill>
            <a:srgbClr val="F2F6F8"/>
          </a:solidFill>
          <a:ln/>
        </p:spPr>
      </p:sp>
      <p:sp>
        <p:nvSpPr>
          <p:cNvPr id="19" name="Shape 17"/>
          <p:cNvSpPr/>
          <p:nvPr/>
        </p:nvSpPr>
        <p:spPr>
          <a:xfrm>
            <a:off x="5074920" y="2633472"/>
            <a:ext cx="73152" cy="502920"/>
          </a:xfrm>
          <a:prstGeom prst="roundRect">
            <a:avLst/>
          </a:prstGeom>
          <a:solidFill>
            <a:srgbClr val="1C7293"/>
          </a:solidFill>
          <a:ln/>
        </p:spPr>
      </p:sp>
      <p:sp>
        <p:nvSpPr>
          <p:cNvPr id="20" name="Text 18"/>
          <p:cNvSpPr txBox="1"/>
          <p:nvPr/>
        </p:nvSpPr>
        <p:spPr>
          <a:xfrm>
            <a:off x="5349240" y="2633472"/>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Wants to show off</a:t>
            </a:r>
            <a:endParaRPr lang="en-US" sz="1350" dirty="0"/>
          </a:p>
        </p:txBody>
      </p:sp>
      <p:sp>
        <p:nvSpPr>
          <p:cNvPr id="21" name="Text 19"/>
          <p:cNvSpPr txBox="1"/>
          <p:nvPr/>
        </p:nvSpPr>
        <p:spPr>
          <a:xfrm>
            <a:off x="8358988" y="2633472"/>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main-character energy</a:t>
            </a:r>
            <a:endParaRPr lang="en-US" sz="1100" dirty="0"/>
          </a:p>
        </p:txBody>
      </p:sp>
      <p:sp>
        <p:nvSpPr>
          <p:cNvPr id="22" name="Shape 20"/>
          <p:cNvSpPr/>
          <p:nvPr/>
        </p:nvSpPr>
        <p:spPr>
          <a:xfrm>
            <a:off x="5074920" y="3209544"/>
            <a:ext cx="6568135" cy="502920"/>
          </a:xfrm>
          <a:prstGeom prst="roundRect">
            <a:avLst>
              <a:gd name="adj" fmla="val 12727"/>
            </a:avLst>
          </a:prstGeom>
          <a:solidFill>
            <a:srgbClr val="F2F6F8"/>
          </a:solidFill>
          <a:ln/>
        </p:spPr>
      </p:sp>
      <p:sp>
        <p:nvSpPr>
          <p:cNvPr id="23" name="Shape 21"/>
          <p:cNvSpPr/>
          <p:nvPr/>
        </p:nvSpPr>
        <p:spPr>
          <a:xfrm>
            <a:off x="5074920" y="3209544"/>
            <a:ext cx="73152" cy="502920"/>
          </a:xfrm>
          <a:prstGeom prst="roundRect">
            <a:avLst/>
          </a:prstGeom>
          <a:solidFill>
            <a:srgbClr val="C44E52"/>
          </a:solidFill>
          <a:ln/>
        </p:spPr>
      </p:sp>
      <p:sp>
        <p:nvSpPr>
          <p:cNvPr id="24" name="Text 22"/>
          <p:cNvSpPr txBox="1"/>
          <p:nvPr/>
        </p:nvSpPr>
        <p:spPr>
          <a:xfrm>
            <a:off x="5349240" y="3209544"/>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Timing within a month</a:t>
            </a:r>
            <a:endParaRPr lang="en-US" sz="1350" dirty="0"/>
          </a:p>
        </p:txBody>
      </p:sp>
      <p:sp>
        <p:nvSpPr>
          <p:cNvPr id="25" name="Text 23"/>
          <p:cNvSpPr txBox="1"/>
          <p:nvPr/>
        </p:nvSpPr>
        <p:spPr>
          <a:xfrm>
            <a:off x="8358988" y="3209544"/>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she won't wait</a:t>
            </a:r>
            <a:endParaRPr lang="en-US" sz="1100" dirty="0"/>
          </a:p>
        </p:txBody>
      </p:sp>
      <p:sp>
        <p:nvSpPr>
          <p:cNvPr id="26" name="Shape 24"/>
          <p:cNvSpPr/>
          <p:nvPr/>
        </p:nvSpPr>
        <p:spPr>
          <a:xfrm>
            <a:off x="5074920" y="3785616"/>
            <a:ext cx="6568135" cy="502920"/>
          </a:xfrm>
          <a:prstGeom prst="roundRect">
            <a:avLst>
              <a:gd name="adj" fmla="val 12727"/>
            </a:avLst>
          </a:prstGeom>
          <a:solidFill>
            <a:srgbClr val="F2F6F8"/>
          </a:solidFill>
          <a:ln/>
        </p:spPr>
      </p:sp>
      <p:sp>
        <p:nvSpPr>
          <p:cNvPr id="27" name="Shape 25"/>
          <p:cNvSpPr/>
          <p:nvPr/>
        </p:nvSpPr>
        <p:spPr>
          <a:xfrm>
            <a:off x="5074920" y="3785616"/>
            <a:ext cx="73152" cy="502920"/>
          </a:xfrm>
          <a:prstGeom prst="roundRect">
            <a:avLst/>
          </a:prstGeom>
          <a:solidFill>
            <a:srgbClr val="065A82"/>
          </a:solidFill>
          <a:ln/>
        </p:spPr>
      </p:sp>
      <p:sp>
        <p:nvSpPr>
          <p:cNvPr id="28" name="Text 26"/>
          <p:cNvSpPr txBox="1"/>
          <p:nvPr/>
        </p:nvSpPr>
        <p:spPr>
          <a:xfrm>
            <a:off x="5349240" y="3785616"/>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Waterfront</a:t>
            </a:r>
            <a:endParaRPr lang="en-US" sz="1350" dirty="0"/>
          </a:p>
        </p:txBody>
      </p:sp>
      <p:sp>
        <p:nvSpPr>
          <p:cNvPr id="29" name="Text 27"/>
          <p:cNvSpPr txBox="1"/>
          <p:nvPr/>
        </p:nvSpPr>
        <p:spPr>
          <a:xfrm>
            <a:off x="8358988" y="3785616"/>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non-negotiable</a:t>
            </a:r>
            <a:endParaRPr lang="en-US" sz="1100" dirty="0"/>
          </a:p>
        </p:txBody>
      </p:sp>
      <p:sp>
        <p:nvSpPr>
          <p:cNvPr id="30" name="Shape 28"/>
          <p:cNvSpPr/>
          <p:nvPr/>
        </p:nvSpPr>
        <p:spPr>
          <a:xfrm>
            <a:off x="5074920" y="4361688"/>
            <a:ext cx="6568135" cy="502920"/>
          </a:xfrm>
          <a:prstGeom prst="roundRect">
            <a:avLst>
              <a:gd name="adj" fmla="val 12727"/>
            </a:avLst>
          </a:prstGeom>
          <a:solidFill>
            <a:srgbClr val="F2F6F8"/>
          </a:solidFill>
          <a:ln/>
        </p:spPr>
      </p:sp>
      <p:sp>
        <p:nvSpPr>
          <p:cNvPr id="31" name="Shape 29"/>
          <p:cNvSpPr/>
          <p:nvPr/>
        </p:nvSpPr>
        <p:spPr>
          <a:xfrm>
            <a:off x="5074920" y="4361688"/>
            <a:ext cx="73152" cy="502920"/>
          </a:xfrm>
          <a:prstGeom prst="roundRect">
            <a:avLst/>
          </a:prstGeom>
          <a:solidFill>
            <a:srgbClr val="1C7293"/>
          </a:solidFill>
          <a:ln/>
        </p:spPr>
      </p:sp>
      <p:sp>
        <p:nvSpPr>
          <p:cNvPr id="32" name="Text 30"/>
          <p:cNvSpPr txBox="1"/>
          <p:nvPr/>
        </p:nvSpPr>
        <p:spPr>
          <a:xfrm>
            <a:off x="5349240" y="4361688"/>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Renovated</a:t>
            </a:r>
            <a:endParaRPr lang="en-US" sz="1350" dirty="0"/>
          </a:p>
        </p:txBody>
      </p:sp>
      <p:sp>
        <p:nvSpPr>
          <p:cNvPr id="33" name="Text 31"/>
          <p:cNvSpPr txBox="1"/>
          <p:nvPr/>
        </p:nvSpPr>
        <p:spPr>
          <a:xfrm>
            <a:off x="8358988" y="4361688"/>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move-in perfect</a:t>
            </a:r>
            <a:endParaRPr lang="en-US" sz="1100" dirty="0"/>
          </a:p>
        </p:txBody>
      </p:sp>
      <p:sp>
        <p:nvSpPr>
          <p:cNvPr id="34" name="Shape 32"/>
          <p:cNvSpPr/>
          <p:nvPr/>
        </p:nvSpPr>
        <p:spPr>
          <a:xfrm>
            <a:off x="5074920" y="4937760"/>
            <a:ext cx="6568135" cy="502920"/>
          </a:xfrm>
          <a:prstGeom prst="roundRect">
            <a:avLst>
              <a:gd name="adj" fmla="val 12727"/>
            </a:avLst>
          </a:prstGeom>
          <a:solidFill>
            <a:srgbClr val="F2F6F8"/>
          </a:solidFill>
          <a:ln/>
        </p:spPr>
      </p:sp>
      <p:sp>
        <p:nvSpPr>
          <p:cNvPr id="35" name="Shape 33"/>
          <p:cNvSpPr/>
          <p:nvPr/>
        </p:nvSpPr>
        <p:spPr>
          <a:xfrm>
            <a:off x="5074920" y="4937760"/>
            <a:ext cx="73152" cy="502920"/>
          </a:xfrm>
          <a:prstGeom prst="roundRect">
            <a:avLst/>
          </a:prstGeom>
          <a:solidFill>
            <a:srgbClr val="C44E52"/>
          </a:solidFill>
          <a:ln/>
        </p:spPr>
      </p:sp>
      <p:sp>
        <p:nvSpPr>
          <p:cNvPr id="36" name="Text 34"/>
          <p:cNvSpPr txBox="1"/>
          <p:nvPr/>
        </p:nvSpPr>
        <p:spPr>
          <a:xfrm>
            <a:off x="5349240" y="4937760"/>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High grades</a:t>
            </a:r>
            <a:endParaRPr lang="en-US" sz="1350" dirty="0"/>
          </a:p>
        </p:txBody>
      </p:sp>
      <p:sp>
        <p:nvSpPr>
          <p:cNvPr id="37" name="Text 35"/>
          <p:cNvSpPr txBox="1"/>
          <p:nvPr/>
        </p:nvSpPr>
        <p:spPr>
          <a:xfrm>
            <a:off x="8358988" y="4937760"/>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only the best-built</a:t>
            </a:r>
            <a:endParaRPr lang="en-US" sz="1100" dirty="0"/>
          </a:p>
        </p:txBody>
      </p:sp>
      <p:sp>
        <p:nvSpPr>
          <p:cNvPr id="38" name="Shape 36"/>
          <p:cNvSpPr/>
          <p:nvPr/>
        </p:nvSpPr>
        <p:spPr>
          <a:xfrm>
            <a:off x="5074920" y="5513832"/>
            <a:ext cx="6568135" cy="502920"/>
          </a:xfrm>
          <a:prstGeom prst="roundRect">
            <a:avLst>
              <a:gd name="adj" fmla="val 12727"/>
            </a:avLst>
          </a:prstGeom>
          <a:solidFill>
            <a:srgbClr val="F2F6F8"/>
          </a:solidFill>
          <a:ln/>
        </p:spPr>
      </p:sp>
      <p:sp>
        <p:nvSpPr>
          <p:cNvPr id="39" name="Shape 37"/>
          <p:cNvSpPr/>
          <p:nvPr/>
        </p:nvSpPr>
        <p:spPr>
          <a:xfrm>
            <a:off x="5074920" y="5513832"/>
            <a:ext cx="73152" cy="502920"/>
          </a:xfrm>
          <a:prstGeom prst="roundRect">
            <a:avLst/>
          </a:prstGeom>
          <a:solidFill>
            <a:srgbClr val="065A82"/>
          </a:solidFill>
          <a:ln/>
        </p:spPr>
      </p:sp>
      <p:sp>
        <p:nvSpPr>
          <p:cNvPr id="40" name="Text 38"/>
          <p:cNvSpPr txBox="1"/>
          <p:nvPr/>
        </p:nvSpPr>
        <p:spPr>
          <a:xfrm>
            <a:off x="5349240" y="5513832"/>
            <a:ext cx="3612474" cy="5029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Resell within 1 year</a:t>
            </a:r>
            <a:endParaRPr lang="en-US" sz="1350" dirty="0"/>
          </a:p>
        </p:txBody>
      </p:sp>
      <p:sp>
        <p:nvSpPr>
          <p:cNvPr id="41" name="Text 39"/>
          <p:cNvSpPr txBox="1"/>
          <p:nvPr/>
        </p:nvSpPr>
        <p:spPr>
          <a:xfrm>
            <a:off x="8358988" y="5513832"/>
            <a:ext cx="3087024" cy="502920"/>
          </a:xfrm>
          <a:prstGeom prst="rect">
            <a:avLst/>
          </a:prstGeom>
          <a:noFill/>
          <a:ln/>
        </p:spPr>
        <p:txBody>
          <a:bodyPr wrap="square" lIns="0" tIns="0" rIns="0" bIns="0" rtlCol="0" anchor="ctr"/>
          <a:lstStyle/>
          <a:p>
            <a:pPr marL="0" indent="0" algn="r">
              <a:buNone/>
            </a:pPr>
            <a:r>
              <a:rPr lang="en-US" sz="1100" i="1" dirty="0">
                <a:solidFill>
                  <a:srgbClr val="5A6B75"/>
                </a:solidFill>
                <a:latin typeface="Calibri" pitchFamily="34" charset="0"/>
                <a:ea typeface="Calibri" pitchFamily="34" charset="-122"/>
                <a:cs typeface="Calibri" pitchFamily="34" charset="-120"/>
              </a:rPr>
              <a:t>an investment too</a:t>
            </a:r>
            <a:endParaRPr lang="en-US" sz="1100" dirty="0"/>
          </a:p>
        </p:txBody>
      </p:sp>
      <p:sp>
        <p:nvSpPr>
          <p:cNvPr id="42" name="Text 40"/>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About the Client</a:t>
            </a:r>
            <a:endParaRPr lang="en-US" sz="900" dirty="0"/>
          </a:p>
        </p:txBody>
      </p:sp>
      <p:sp>
        <p:nvSpPr>
          <p:cNvPr id="43" name="Text 41"/>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extLst>
      <p:ext uri="{BB962C8B-B14F-4D97-AF65-F5344CB8AC3E}">
        <p14:creationId xmlns:p14="http://schemas.microsoft.com/office/powerpoint/2010/main" val="1783102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101470" cy="565574"/>
          </a:xfrm>
          <a:prstGeom prst="rect">
            <a:avLst/>
          </a:prstGeom>
          <a:noFill/>
          <a:ln/>
        </p:spPr>
        <p:txBody>
          <a:bodyPr wrap="square" lIns="0" tIns="0" rIns="0" bIns="0" rtlCol="0" anchor="t"/>
          <a:lstStyle/>
          <a:p>
            <a:r>
              <a:rPr lang="en-US" sz="3200" b="1" dirty="0">
                <a:solidFill>
                  <a:srgbClr val="21295C"/>
                </a:solidFill>
                <a:latin typeface="Cambria"/>
                <a:ea typeface="Cambria"/>
                <a:cs typeface="+mn-lt"/>
              </a:rPr>
              <a:t>Before I Searched, Three Things to Check</a:t>
            </a:r>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r>
              <a:rPr lang="en-US" sz="1500" dirty="0">
                <a:solidFill>
                  <a:srgbClr val="5A6B75"/>
                </a:solidFill>
                <a:ea typeface="+mn-lt"/>
                <a:cs typeface="+mn-lt"/>
              </a:rPr>
              <a:t>Real-estate wisdom makes some assumptions — worth testing before I trust them</a:t>
            </a:r>
            <a:endParaRPr lang="en-US" dirty="0"/>
          </a:p>
        </p:txBody>
      </p:sp>
      <p:sp>
        <p:nvSpPr>
          <p:cNvPr id="4" name="Shape 2"/>
          <p:cNvSpPr/>
          <p:nvPr/>
        </p:nvSpPr>
        <p:spPr>
          <a:xfrm>
            <a:off x="548640" y="1783080"/>
            <a:ext cx="3520440" cy="3108960"/>
          </a:xfrm>
          <a:prstGeom prst="roundRect">
            <a:avLst>
              <a:gd name="adj" fmla="val 2941"/>
            </a:avLst>
          </a:prstGeom>
          <a:solidFill>
            <a:srgbClr val="F2F6F8"/>
          </a:solidFill>
          <a:ln/>
          <a:effectLst>
            <a:outerShdw blurRad="76200" dist="25400" dir="5400000" algn="bl" rotWithShape="0">
              <a:srgbClr val="1A1A1A">
                <a:alpha val="15000"/>
              </a:srgbClr>
            </a:outerShdw>
          </a:effectLst>
        </p:spPr>
      </p:sp>
      <p:sp>
        <p:nvSpPr>
          <p:cNvPr id="5" name="Shape 3"/>
          <p:cNvSpPr/>
          <p:nvPr/>
        </p:nvSpPr>
        <p:spPr>
          <a:xfrm>
            <a:off x="822960" y="2057400"/>
            <a:ext cx="457200" cy="457200"/>
          </a:xfrm>
          <a:prstGeom prst="ellipse">
            <a:avLst/>
          </a:prstGeom>
          <a:solidFill>
            <a:srgbClr val="065A82"/>
          </a:solidFill>
          <a:ln/>
        </p:spPr>
      </p:sp>
      <p:sp>
        <p:nvSpPr>
          <p:cNvPr id="6" name="Text 4"/>
          <p:cNvSpPr txBox="1"/>
          <p:nvPr/>
        </p:nvSpPr>
        <p:spPr>
          <a:xfrm>
            <a:off x="82296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822960" y="2697480"/>
            <a:ext cx="2971800" cy="822960"/>
          </a:xfrm>
          <a:prstGeom prst="rect">
            <a:avLst/>
          </a:prstGeom>
          <a:noFill/>
          <a:ln/>
        </p:spPr>
        <p:txBody>
          <a:bodyPr wrap="square" lIns="0" tIns="0" rIns="0" bIns="0" rtlCol="0" anchor="t"/>
          <a:lstStyle/>
          <a:p>
            <a:pPr marL="0" indent="0">
              <a:buNone/>
            </a:pPr>
            <a:r>
              <a:rPr lang="en-US" sz="1550" b="1" dirty="0">
                <a:solidFill>
                  <a:srgbClr val="21295C"/>
                </a:solidFill>
                <a:latin typeface="Calibri"/>
                <a:ea typeface="Calibri"/>
                <a:cs typeface="Calibri"/>
              </a:rPr>
              <a:t>Prestige clusters </a:t>
            </a:r>
            <a:r>
              <a:rPr lang="en-US" sz="1600" b="1" dirty="0">
                <a:solidFill>
                  <a:srgbClr val="21295C"/>
                </a:solidFill>
                <a:latin typeface="Calibri"/>
                <a:ea typeface="Calibri"/>
                <a:cs typeface="Calibri"/>
              </a:rPr>
              <a:t>geographically</a:t>
            </a:r>
            <a:endParaRPr lang="en-US" sz="1600" dirty="0">
              <a:latin typeface="Calibri"/>
              <a:ea typeface="Calibri"/>
              <a:cs typeface="Calibri"/>
            </a:endParaRPr>
          </a:p>
        </p:txBody>
      </p:sp>
      <p:sp>
        <p:nvSpPr>
          <p:cNvPr id="8" name="Text 6"/>
          <p:cNvSpPr txBox="1"/>
          <p:nvPr/>
        </p:nvSpPr>
        <p:spPr>
          <a:xfrm>
            <a:off x="822960" y="3474720"/>
            <a:ext cx="2971800" cy="1280160"/>
          </a:xfrm>
          <a:prstGeom prst="rect">
            <a:avLst/>
          </a:prstGeom>
          <a:noFill/>
          <a:ln/>
        </p:spPr>
        <p:txBody>
          <a:bodyPr wrap="square" lIns="0" tIns="0" rIns="0" bIns="0" rtlCol="0" anchor="t"/>
          <a:lstStyle/>
          <a:p>
            <a:pPr algn="ctr"/>
            <a:r>
              <a:rPr lang="en-US" sz="1400" dirty="0">
                <a:solidFill>
                  <a:srgbClr val="1F2933"/>
                </a:solidFill>
                <a:ea typeface="+mn-lt"/>
                <a:cs typeface="+mn-lt"/>
              </a:rPr>
              <a:t>Nice homes shouldn't be scattered evenly across the county.</a:t>
            </a:r>
            <a:endParaRPr lang="en-US" sz="2000" dirty="0">
              <a:ea typeface="+mn-lt"/>
              <a:cs typeface="+mn-lt"/>
            </a:endParaRPr>
          </a:p>
        </p:txBody>
      </p:sp>
      <p:sp>
        <p:nvSpPr>
          <p:cNvPr id="9" name="Shape 7"/>
          <p:cNvSpPr/>
          <p:nvPr/>
        </p:nvSpPr>
        <p:spPr>
          <a:xfrm>
            <a:off x="4343400" y="1783080"/>
            <a:ext cx="3520440" cy="3108960"/>
          </a:xfrm>
          <a:prstGeom prst="roundRect">
            <a:avLst>
              <a:gd name="adj" fmla="val 2941"/>
            </a:avLst>
          </a:prstGeom>
          <a:solidFill>
            <a:srgbClr val="F2F6F8"/>
          </a:solidFill>
          <a:ln/>
          <a:effectLst>
            <a:outerShdw blurRad="76200" dist="25400" dir="5400000" algn="bl" rotWithShape="0">
              <a:srgbClr val="1A1A1A">
                <a:alpha val="15000"/>
              </a:srgbClr>
            </a:outerShdw>
          </a:effectLst>
        </p:spPr>
      </p:sp>
      <p:sp>
        <p:nvSpPr>
          <p:cNvPr id="10" name="Shape 8"/>
          <p:cNvSpPr/>
          <p:nvPr/>
        </p:nvSpPr>
        <p:spPr>
          <a:xfrm>
            <a:off x="4617720" y="2057400"/>
            <a:ext cx="457200" cy="457200"/>
          </a:xfrm>
          <a:prstGeom prst="ellipse">
            <a:avLst/>
          </a:prstGeom>
          <a:solidFill>
            <a:srgbClr val="065A82"/>
          </a:solidFill>
          <a:ln/>
        </p:spPr>
      </p:sp>
      <p:sp>
        <p:nvSpPr>
          <p:cNvPr id="11" name="Text 9"/>
          <p:cNvSpPr txBox="1"/>
          <p:nvPr/>
        </p:nvSpPr>
        <p:spPr>
          <a:xfrm>
            <a:off x="461772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4617720" y="2697480"/>
            <a:ext cx="2971800" cy="8229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Premium features cost more</a:t>
            </a:r>
            <a:endParaRPr lang="en-US" sz="1600" dirty="0"/>
          </a:p>
        </p:txBody>
      </p:sp>
      <p:sp>
        <p:nvSpPr>
          <p:cNvPr id="13" name="Text 11"/>
          <p:cNvSpPr txBox="1"/>
          <p:nvPr/>
        </p:nvSpPr>
        <p:spPr>
          <a:xfrm>
            <a:off x="4617720" y="3474720"/>
            <a:ext cx="2971800" cy="1280160"/>
          </a:xfrm>
          <a:prstGeom prst="rect">
            <a:avLst/>
          </a:prstGeom>
          <a:noFill/>
          <a:ln/>
        </p:spPr>
        <p:txBody>
          <a:bodyPr wrap="square" lIns="0" tIns="0" rIns="0" bIns="0" rtlCol="0" anchor="t"/>
          <a:lstStyle/>
          <a:p>
            <a:pPr algn="ctr"/>
            <a:r>
              <a:rPr lang="en-US" sz="1400" dirty="0">
                <a:solidFill>
                  <a:srgbClr val="1F2933"/>
                </a:solidFill>
                <a:ea typeface="+mn-lt"/>
                <a:cs typeface="+mn-lt"/>
              </a:rPr>
              <a:t>Waterfront, high grade, and renovation should each add real value.</a:t>
            </a:r>
            <a:endParaRPr lang="en-US" sz="2000" dirty="0">
              <a:ea typeface="+mn-lt"/>
              <a:cs typeface="+mn-lt"/>
            </a:endParaRPr>
          </a:p>
        </p:txBody>
      </p:sp>
      <p:sp>
        <p:nvSpPr>
          <p:cNvPr id="14" name="Shape 12"/>
          <p:cNvSpPr/>
          <p:nvPr/>
        </p:nvSpPr>
        <p:spPr>
          <a:xfrm>
            <a:off x="8138160" y="1783080"/>
            <a:ext cx="3520440" cy="3108960"/>
          </a:xfrm>
          <a:prstGeom prst="roundRect">
            <a:avLst>
              <a:gd name="adj" fmla="val 2941"/>
            </a:avLst>
          </a:prstGeom>
          <a:solidFill>
            <a:srgbClr val="F2F6F8"/>
          </a:solidFill>
          <a:ln/>
          <a:effectLst>
            <a:outerShdw blurRad="76200" dist="25400" dir="5400000" algn="bl" rotWithShape="0">
              <a:srgbClr val="1A1A1A">
                <a:alpha val="15000"/>
              </a:srgbClr>
            </a:outerShdw>
          </a:effectLst>
        </p:spPr>
      </p:sp>
      <p:sp>
        <p:nvSpPr>
          <p:cNvPr id="15" name="Shape 13"/>
          <p:cNvSpPr/>
          <p:nvPr/>
        </p:nvSpPr>
        <p:spPr>
          <a:xfrm>
            <a:off x="8412480" y="2057400"/>
            <a:ext cx="457200" cy="457200"/>
          </a:xfrm>
          <a:prstGeom prst="ellipse">
            <a:avLst/>
          </a:prstGeom>
          <a:solidFill>
            <a:srgbClr val="065A82"/>
          </a:solidFill>
          <a:ln/>
        </p:spPr>
      </p:sp>
      <p:sp>
        <p:nvSpPr>
          <p:cNvPr id="16" name="Text 14"/>
          <p:cNvSpPr txBox="1"/>
          <p:nvPr/>
        </p:nvSpPr>
        <p:spPr>
          <a:xfrm>
            <a:off x="841248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8412480" y="2697480"/>
            <a:ext cx="2971800" cy="822960"/>
          </a:xfrm>
          <a:prstGeom prst="rect">
            <a:avLst/>
          </a:prstGeom>
          <a:noFill/>
          <a:ln/>
        </p:spPr>
        <p:txBody>
          <a:bodyPr wrap="square" lIns="0" tIns="0" rIns="0" bIns="0" rtlCol="0" anchor="t"/>
          <a:lstStyle/>
          <a:p>
            <a:pPr marL="0" indent="0">
              <a:buNone/>
            </a:pPr>
            <a:r>
              <a:rPr lang="en-US" sz="1550" b="1" dirty="0">
                <a:solidFill>
                  <a:srgbClr val="21295C"/>
                </a:solidFill>
                <a:latin typeface="Calibri"/>
                <a:ea typeface="Calibri"/>
                <a:cs typeface="Calibri"/>
              </a:rPr>
              <a:t>A quick </a:t>
            </a:r>
            <a:r>
              <a:rPr lang="en-US" sz="1600" b="1" dirty="0">
                <a:solidFill>
                  <a:srgbClr val="21295C"/>
                </a:solidFill>
                <a:latin typeface="Calibri"/>
                <a:ea typeface="Calibri"/>
                <a:cs typeface="Calibri"/>
              </a:rPr>
              <a:t>resale</a:t>
            </a:r>
            <a:r>
              <a:rPr lang="en-US" sz="1550" b="1" dirty="0">
                <a:solidFill>
                  <a:srgbClr val="21295C"/>
                </a:solidFill>
                <a:latin typeface="Calibri"/>
                <a:ea typeface="Calibri"/>
                <a:cs typeface="Calibri"/>
              </a:rPr>
              <a:t> usually pays off</a:t>
            </a:r>
            <a:endParaRPr lang="en-US" sz="1550" dirty="0">
              <a:latin typeface="Calibri"/>
              <a:ea typeface="Calibri"/>
              <a:cs typeface="Calibri"/>
            </a:endParaRPr>
          </a:p>
        </p:txBody>
      </p:sp>
      <p:sp>
        <p:nvSpPr>
          <p:cNvPr id="18" name="Text 16"/>
          <p:cNvSpPr txBox="1"/>
          <p:nvPr/>
        </p:nvSpPr>
        <p:spPr>
          <a:xfrm>
            <a:off x="8412480" y="3474720"/>
            <a:ext cx="2971800" cy="1280160"/>
          </a:xfrm>
          <a:prstGeom prst="rect">
            <a:avLst/>
          </a:prstGeom>
          <a:noFill/>
          <a:ln/>
        </p:spPr>
        <p:txBody>
          <a:bodyPr wrap="square" lIns="0" tIns="0" rIns="0" bIns="0" rtlCol="0" anchor="t"/>
          <a:lstStyle/>
          <a:p>
            <a:pPr algn="ctr"/>
            <a:r>
              <a:rPr lang="en-US" sz="1400" dirty="0">
                <a:solidFill>
                  <a:srgbClr val="1F2933"/>
                </a:solidFill>
                <a:ea typeface="+mn-lt"/>
                <a:cs typeface="+mn-lt"/>
              </a:rPr>
              <a:t>Buy and sell within a year, and you should come out ahead.</a:t>
            </a:r>
            <a:endParaRPr lang="en-US" sz="2000" dirty="0">
              <a:ea typeface="+mn-lt"/>
              <a:cs typeface="+mn-lt"/>
            </a:endParaRPr>
          </a:p>
        </p:txBody>
      </p:sp>
      <p:sp>
        <p:nvSpPr>
          <p:cNvPr id="19" name="Text 17"/>
          <p:cNvSpPr txBox="1"/>
          <p:nvPr/>
        </p:nvSpPr>
        <p:spPr>
          <a:xfrm>
            <a:off x="548640" y="5166360"/>
            <a:ext cx="11094415" cy="457200"/>
          </a:xfrm>
          <a:prstGeom prst="rect">
            <a:avLst/>
          </a:prstGeom>
          <a:noFill/>
          <a:ln/>
        </p:spPr>
        <p:txBody>
          <a:bodyPr wrap="square" lIns="0" tIns="0" rIns="0" bIns="0" rtlCol="0" anchor="ctr"/>
          <a:lstStyle/>
          <a:p>
            <a:pPr marL="0" indent="0" algn="ctr">
              <a:buNone/>
            </a:pPr>
            <a:r>
              <a:rPr lang="en-US" sz="1700" i="1" dirty="0">
                <a:solidFill>
                  <a:srgbClr val="1C7293"/>
                </a:solidFill>
                <a:latin typeface="Cambria" pitchFamily="34" charset="0"/>
                <a:ea typeface="Cambria" pitchFamily="34" charset="-122"/>
                <a:cs typeface="Cambria" pitchFamily="34" charset="-120"/>
              </a:rPr>
              <a:t>Let's see if the data agrees.</a:t>
            </a:r>
            <a:endParaRPr lang="en-US" sz="1700" dirty="0"/>
          </a:p>
        </p:txBody>
      </p:sp>
      <p:sp>
        <p:nvSpPr>
          <p:cNvPr id="20" name="Text 18"/>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Our Assumptions</a:t>
            </a:r>
            <a:endParaRPr lang="en-US" sz="900" dirty="0"/>
          </a:p>
        </p:txBody>
      </p:sp>
      <p:sp>
        <p:nvSpPr>
          <p:cNvPr id="21" name="Text 19"/>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Meet the House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A6B75"/>
                </a:solidFill>
                <a:latin typeface="Calibri" pitchFamily="34" charset="0"/>
                <a:ea typeface="Calibri" pitchFamily="34" charset="-122"/>
                <a:cs typeface="Calibri" pitchFamily="34" charset="-120"/>
              </a:rPr>
              <a:t>4217402115  •  Zip 98105, Seattle</a:t>
            </a:r>
            <a:endParaRPr lang="en-US" sz="1500" dirty="0"/>
          </a:p>
        </p:txBody>
      </p:sp>
      <p:sp>
        <p:nvSpPr>
          <p:cNvPr id="4" name="Shape 2"/>
          <p:cNvSpPr/>
          <p:nvPr/>
        </p:nvSpPr>
        <p:spPr>
          <a:xfrm>
            <a:off x="548640" y="1691640"/>
            <a:ext cx="3383280" cy="3520440"/>
          </a:xfrm>
          <a:prstGeom prst="roundRect">
            <a:avLst>
              <a:gd name="adj" fmla="val 2703"/>
            </a:avLst>
          </a:prstGeom>
          <a:solidFill>
            <a:srgbClr val="21295C"/>
          </a:solidFill>
          <a:ln/>
          <a:effectLst>
            <a:outerShdw blurRad="76200" dist="25400" dir="5400000" algn="bl" rotWithShape="0">
              <a:srgbClr val="1A1A1A">
                <a:alpha val="15000"/>
              </a:srgbClr>
            </a:outerShdw>
          </a:effectLst>
        </p:spPr>
      </p:sp>
      <p:sp>
        <p:nvSpPr>
          <p:cNvPr id="5" name="Text 3"/>
          <p:cNvSpPr txBox="1"/>
          <p:nvPr/>
        </p:nvSpPr>
        <p:spPr>
          <a:xfrm>
            <a:off x="731520" y="2286000"/>
            <a:ext cx="301752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$3,650,000</a:t>
            </a:r>
            <a:endParaRPr lang="en-US" sz="3000" dirty="0"/>
          </a:p>
        </p:txBody>
      </p:sp>
      <p:sp>
        <p:nvSpPr>
          <p:cNvPr id="6" name="Text 4"/>
          <p:cNvSpPr txBox="1"/>
          <p:nvPr/>
        </p:nvSpPr>
        <p:spPr>
          <a:xfrm>
            <a:off x="731520" y="3063240"/>
            <a:ext cx="3017520" cy="320040"/>
          </a:xfrm>
          <a:prstGeom prst="rect">
            <a:avLst/>
          </a:prstGeom>
          <a:noFill/>
          <a:ln/>
        </p:spPr>
        <p:txBody>
          <a:bodyPr wrap="square" lIns="0" tIns="0" rIns="0" bIns="0" rtlCol="0" anchor="ctr"/>
          <a:lstStyle/>
          <a:p>
            <a:pPr marL="0" indent="0" algn="ctr">
              <a:buNone/>
            </a:pPr>
            <a:r>
              <a:rPr lang="en-US" sz="1200" dirty="0">
                <a:solidFill>
                  <a:srgbClr val="9FB3D8"/>
                </a:solidFill>
                <a:latin typeface="Calibri" pitchFamily="34" charset="0"/>
                <a:ea typeface="Calibri" pitchFamily="34" charset="-122"/>
                <a:cs typeface="Calibri" pitchFamily="34" charset="-120"/>
              </a:rPr>
              <a:t>Sale price</a:t>
            </a:r>
            <a:endParaRPr lang="en-US" sz="1200" dirty="0"/>
          </a:p>
        </p:txBody>
      </p:sp>
      <p:sp>
        <p:nvSpPr>
          <p:cNvPr id="7" name="Shape 5"/>
          <p:cNvSpPr/>
          <p:nvPr/>
        </p:nvSpPr>
        <p:spPr>
          <a:xfrm>
            <a:off x="1463040" y="3749040"/>
            <a:ext cx="1554480" cy="365760"/>
          </a:xfrm>
          <a:prstGeom prst="roundRect">
            <a:avLst>
              <a:gd name="adj" fmla="val 20000"/>
            </a:avLst>
          </a:prstGeom>
          <a:solidFill>
            <a:srgbClr val="C44E52"/>
          </a:solidFill>
          <a:ln/>
        </p:spPr>
      </p:sp>
      <p:sp>
        <p:nvSpPr>
          <p:cNvPr id="8" name="Text 6"/>
          <p:cNvSpPr txBox="1"/>
          <p:nvPr/>
        </p:nvSpPr>
        <p:spPr>
          <a:xfrm>
            <a:off x="1463040" y="374904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Waterfront</a:t>
            </a:r>
            <a:endParaRPr lang="en-US" sz="1300" dirty="0"/>
          </a:p>
        </p:txBody>
      </p:sp>
      <p:sp>
        <p:nvSpPr>
          <p:cNvPr id="9" name="Text 7"/>
          <p:cNvSpPr txBox="1"/>
          <p:nvPr/>
        </p:nvSpPr>
        <p:spPr>
          <a:xfrm>
            <a:off x="731520" y="4343400"/>
            <a:ext cx="3017520" cy="777240"/>
          </a:xfrm>
          <a:prstGeom prst="rect">
            <a:avLst/>
          </a:prstGeom>
          <a:noFill/>
          <a:ln/>
        </p:spPr>
        <p:txBody>
          <a:bodyPr wrap="square" lIns="0" tIns="0" rIns="0" bIns="0"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Top-tier condition (5/5)  •  Grade 11 of 13</a:t>
            </a:r>
            <a:endParaRPr lang="en-US" sz="1150" dirty="0"/>
          </a:p>
          <a:p>
            <a:pPr marL="0" indent="0" algn="ctr">
              <a:buNone/>
            </a:pPr>
            <a:r>
              <a:rPr lang="en-US" sz="1150" dirty="0">
                <a:solidFill>
                  <a:srgbClr val="CADCFC"/>
                </a:solidFill>
                <a:latin typeface="Calibri" pitchFamily="34" charset="0"/>
                <a:ea typeface="Calibri" pitchFamily="34" charset="-122"/>
                <a:cs typeface="Calibri" pitchFamily="34" charset="-120"/>
              </a:rPr>
              <a:t>Never renovated — an original, well-preserved 1936 home</a:t>
            </a:r>
            <a:endParaRPr lang="en-US" sz="1150" dirty="0"/>
          </a:p>
        </p:txBody>
      </p:sp>
      <p:sp>
        <p:nvSpPr>
          <p:cNvPr id="10" name="Shape 8"/>
          <p:cNvSpPr/>
          <p:nvPr/>
        </p:nvSpPr>
        <p:spPr>
          <a:xfrm>
            <a:off x="4206240" y="1691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11" name="Text 9"/>
          <p:cNvSpPr txBox="1"/>
          <p:nvPr/>
        </p:nvSpPr>
        <p:spPr>
          <a:xfrm>
            <a:off x="4343400" y="1801368"/>
            <a:ext cx="1447724" cy="528066"/>
          </a:xfrm>
          <a:prstGeom prst="rect">
            <a:avLst/>
          </a:prstGeom>
          <a:noFill/>
          <a:ln/>
        </p:spPr>
        <p:txBody>
          <a:bodyPr wrap="square" lIns="0" tIns="0" rIns="0" bIns="0" rtlCol="0" anchor="b"/>
          <a:lstStyle/>
          <a:p>
            <a:pPr marL="0" indent="0" algn="ctr">
              <a:buNone/>
            </a:pPr>
            <a:r>
              <a:rPr lang="en-US" sz="2600" b="1" dirty="0">
                <a:solidFill>
                  <a:srgbClr val="065A82"/>
                </a:solidFill>
                <a:latin typeface="Cambria" pitchFamily="34" charset="0"/>
                <a:ea typeface="Cambria" pitchFamily="34" charset="-122"/>
                <a:cs typeface="Cambria" pitchFamily="34" charset="-120"/>
              </a:rPr>
              <a:t>6</a:t>
            </a:r>
            <a:endParaRPr lang="en-US" sz="2600" dirty="0"/>
          </a:p>
        </p:txBody>
      </p:sp>
      <p:sp>
        <p:nvSpPr>
          <p:cNvPr id="12" name="Text 10"/>
          <p:cNvSpPr txBox="1"/>
          <p:nvPr/>
        </p:nvSpPr>
        <p:spPr>
          <a:xfrm>
            <a:off x="4343400" y="2267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Bedrooms</a:t>
            </a:r>
            <a:endParaRPr lang="en-US" sz="1150" dirty="0"/>
          </a:p>
        </p:txBody>
      </p:sp>
      <p:sp>
        <p:nvSpPr>
          <p:cNvPr id="13" name="Shape 11"/>
          <p:cNvSpPr/>
          <p:nvPr/>
        </p:nvSpPr>
        <p:spPr>
          <a:xfrm>
            <a:off x="6111164" y="1691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14" name="Text 12"/>
          <p:cNvSpPr txBox="1"/>
          <p:nvPr/>
        </p:nvSpPr>
        <p:spPr>
          <a:xfrm>
            <a:off x="6248324" y="1801368"/>
            <a:ext cx="1447724" cy="528066"/>
          </a:xfrm>
          <a:prstGeom prst="rect">
            <a:avLst/>
          </a:prstGeom>
          <a:noFill/>
          <a:ln/>
        </p:spPr>
        <p:txBody>
          <a:bodyPr wrap="square" lIns="0" tIns="0" rIns="0" bIns="0" rtlCol="0" anchor="b"/>
          <a:lstStyle/>
          <a:p>
            <a:pPr marL="0" indent="0" algn="ctr">
              <a:buNone/>
            </a:pPr>
            <a:r>
              <a:rPr lang="en-US" sz="2600" b="1" dirty="0">
                <a:solidFill>
                  <a:srgbClr val="065A82"/>
                </a:solidFill>
                <a:latin typeface="Cambria" pitchFamily="34" charset="0"/>
                <a:ea typeface="Cambria" pitchFamily="34" charset="-122"/>
                <a:cs typeface="Cambria" pitchFamily="34" charset="-120"/>
              </a:rPr>
              <a:t>4.75</a:t>
            </a:r>
            <a:endParaRPr lang="en-US" sz="2600" dirty="0"/>
          </a:p>
        </p:txBody>
      </p:sp>
      <p:sp>
        <p:nvSpPr>
          <p:cNvPr id="15" name="Text 13"/>
          <p:cNvSpPr txBox="1"/>
          <p:nvPr/>
        </p:nvSpPr>
        <p:spPr>
          <a:xfrm>
            <a:off x="6248324" y="2267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Bathrooms</a:t>
            </a:r>
            <a:endParaRPr lang="en-US" sz="1150" dirty="0"/>
          </a:p>
        </p:txBody>
      </p:sp>
      <p:sp>
        <p:nvSpPr>
          <p:cNvPr id="16" name="Shape 14"/>
          <p:cNvSpPr/>
          <p:nvPr/>
        </p:nvSpPr>
        <p:spPr>
          <a:xfrm>
            <a:off x="8016088" y="1691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17" name="Text 15"/>
          <p:cNvSpPr txBox="1"/>
          <p:nvPr/>
        </p:nvSpPr>
        <p:spPr>
          <a:xfrm>
            <a:off x="8153248" y="1801368"/>
            <a:ext cx="1447724" cy="528066"/>
          </a:xfrm>
          <a:prstGeom prst="rect">
            <a:avLst/>
          </a:prstGeom>
          <a:noFill/>
          <a:ln/>
        </p:spPr>
        <p:txBody>
          <a:bodyPr wrap="square" lIns="0" tIns="0" rIns="0" bIns="0" rtlCol="0" anchor="b"/>
          <a:lstStyle/>
          <a:p>
            <a:pPr marL="0" indent="0" algn="ctr">
              <a:buNone/>
            </a:pPr>
            <a:r>
              <a:rPr lang="en-US" sz="2600" b="1" dirty="0">
                <a:solidFill>
                  <a:srgbClr val="065A82"/>
                </a:solidFill>
                <a:latin typeface="Cambria" pitchFamily="34" charset="0"/>
                <a:ea typeface="Cambria" pitchFamily="34" charset="-122"/>
                <a:cs typeface="Cambria" pitchFamily="34" charset="-120"/>
              </a:rPr>
              <a:t>5,480 sqft</a:t>
            </a:r>
            <a:endParaRPr lang="en-US" sz="2600" dirty="0"/>
          </a:p>
        </p:txBody>
      </p:sp>
      <p:sp>
        <p:nvSpPr>
          <p:cNvPr id="18" name="Text 16"/>
          <p:cNvSpPr txBox="1"/>
          <p:nvPr/>
        </p:nvSpPr>
        <p:spPr>
          <a:xfrm>
            <a:off x="8153248" y="2267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Living space</a:t>
            </a:r>
            <a:endParaRPr lang="en-US" sz="1150" dirty="0"/>
          </a:p>
        </p:txBody>
      </p:sp>
      <p:sp>
        <p:nvSpPr>
          <p:cNvPr id="19" name="Shape 17"/>
          <p:cNvSpPr/>
          <p:nvPr/>
        </p:nvSpPr>
        <p:spPr>
          <a:xfrm>
            <a:off x="9921011" y="1691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20" name="Text 18"/>
          <p:cNvSpPr txBox="1"/>
          <p:nvPr/>
        </p:nvSpPr>
        <p:spPr>
          <a:xfrm>
            <a:off x="10058171" y="1801368"/>
            <a:ext cx="1447724" cy="528066"/>
          </a:xfrm>
          <a:prstGeom prst="rect">
            <a:avLst/>
          </a:prstGeom>
          <a:noFill/>
          <a:ln/>
        </p:spPr>
        <p:txBody>
          <a:bodyPr wrap="square" lIns="0" tIns="0" rIns="0" bIns="0" rtlCol="0" anchor="b"/>
          <a:lstStyle/>
          <a:p>
            <a:pPr marL="0" indent="0" algn="ctr">
              <a:buNone/>
            </a:pPr>
            <a:r>
              <a:rPr lang="en-US" sz="2600" b="1" dirty="0">
                <a:solidFill>
                  <a:srgbClr val="065A82"/>
                </a:solidFill>
                <a:latin typeface="Cambria" pitchFamily="34" charset="0"/>
                <a:ea typeface="Cambria" pitchFamily="34" charset="-122"/>
                <a:cs typeface="Cambria" pitchFamily="34" charset="-120"/>
              </a:rPr>
              <a:t>19,401 sqft</a:t>
            </a:r>
            <a:endParaRPr lang="en-US" sz="2600" dirty="0"/>
          </a:p>
        </p:txBody>
      </p:sp>
      <p:sp>
        <p:nvSpPr>
          <p:cNvPr id="21" name="Text 19"/>
          <p:cNvSpPr txBox="1"/>
          <p:nvPr/>
        </p:nvSpPr>
        <p:spPr>
          <a:xfrm>
            <a:off x="10058171" y="2267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Lot size</a:t>
            </a:r>
            <a:endParaRPr lang="en-US" sz="1150" dirty="0"/>
          </a:p>
        </p:txBody>
      </p:sp>
      <p:sp>
        <p:nvSpPr>
          <p:cNvPr id="22" name="Shape 20"/>
          <p:cNvSpPr/>
          <p:nvPr/>
        </p:nvSpPr>
        <p:spPr>
          <a:xfrm>
            <a:off x="4206240" y="2834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23" name="Text 21"/>
          <p:cNvSpPr txBox="1"/>
          <p:nvPr/>
        </p:nvSpPr>
        <p:spPr>
          <a:xfrm>
            <a:off x="4343400" y="2944368"/>
            <a:ext cx="1447724" cy="528066"/>
          </a:xfrm>
          <a:prstGeom prst="rect">
            <a:avLst/>
          </a:prstGeom>
          <a:noFill/>
          <a:ln/>
        </p:spPr>
        <p:txBody>
          <a:bodyPr wrap="square" lIns="0" tIns="0" rIns="0" bIns="0" rtlCol="0" anchor="b"/>
          <a:lstStyle/>
          <a:p>
            <a:pPr marL="0" indent="0" algn="ctr">
              <a:buNone/>
            </a:pPr>
            <a:r>
              <a:rPr lang="en-US" sz="2600" b="1" dirty="0">
                <a:solidFill>
                  <a:srgbClr val="1C7293"/>
                </a:solidFill>
                <a:latin typeface="Cambria" pitchFamily="34" charset="0"/>
                <a:ea typeface="Cambria" pitchFamily="34" charset="-122"/>
                <a:cs typeface="Cambria" pitchFamily="34" charset="-120"/>
              </a:rPr>
              <a:t>4 / 4</a:t>
            </a:r>
            <a:endParaRPr lang="en-US" sz="2600" dirty="0"/>
          </a:p>
        </p:txBody>
      </p:sp>
      <p:sp>
        <p:nvSpPr>
          <p:cNvPr id="24" name="Text 22"/>
          <p:cNvSpPr txBox="1"/>
          <p:nvPr/>
        </p:nvSpPr>
        <p:spPr>
          <a:xfrm>
            <a:off x="4343400" y="3410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View score</a:t>
            </a:r>
            <a:endParaRPr lang="en-US" sz="1150" dirty="0"/>
          </a:p>
        </p:txBody>
      </p:sp>
      <p:sp>
        <p:nvSpPr>
          <p:cNvPr id="25" name="Shape 23"/>
          <p:cNvSpPr/>
          <p:nvPr/>
        </p:nvSpPr>
        <p:spPr>
          <a:xfrm>
            <a:off x="6111164" y="2834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26" name="Text 24"/>
          <p:cNvSpPr txBox="1"/>
          <p:nvPr/>
        </p:nvSpPr>
        <p:spPr>
          <a:xfrm>
            <a:off x="6248324" y="2944368"/>
            <a:ext cx="1447724" cy="528066"/>
          </a:xfrm>
          <a:prstGeom prst="rect">
            <a:avLst/>
          </a:prstGeom>
          <a:noFill/>
          <a:ln/>
        </p:spPr>
        <p:txBody>
          <a:bodyPr wrap="square" lIns="0" tIns="0" rIns="0" bIns="0" rtlCol="0" anchor="b"/>
          <a:lstStyle/>
          <a:p>
            <a:pPr marL="0" indent="0" algn="ctr">
              <a:buNone/>
            </a:pPr>
            <a:r>
              <a:rPr lang="en-US" sz="2600" b="1" dirty="0">
                <a:solidFill>
                  <a:srgbClr val="1C7293"/>
                </a:solidFill>
                <a:latin typeface="Cambria" pitchFamily="34" charset="0"/>
                <a:ea typeface="Cambria" pitchFamily="34" charset="-122"/>
                <a:cs typeface="Cambria" pitchFamily="34" charset="-120"/>
              </a:rPr>
              <a:t>+1,970 sqft</a:t>
            </a:r>
            <a:endParaRPr lang="en-US" sz="2600" dirty="0"/>
          </a:p>
        </p:txBody>
      </p:sp>
      <p:sp>
        <p:nvSpPr>
          <p:cNvPr id="27" name="Text 25"/>
          <p:cNvSpPr txBox="1"/>
          <p:nvPr/>
        </p:nvSpPr>
        <p:spPr>
          <a:xfrm>
            <a:off x="6248324" y="3410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Bigger than neighbors</a:t>
            </a:r>
            <a:endParaRPr lang="en-US" sz="1150" dirty="0"/>
          </a:p>
        </p:txBody>
      </p:sp>
      <p:sp>
        <p:nvSpPr>
          <p:cNvPr id="28" name="Shape 26"/>
          <p:cNvSpPr/>
          <p:nvPr/>
        </p:nvSpPr>
        <p:spPr>
          <a:xfrm>
            <a:off x="8016088" y="2834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29" name="Text 27"/>
          <p:cNvSpPr txBox="1"/>
          <p:nvPr/>
        </p:nvSpPr>
        <p:spPr>
          <a:xfrm>
            <a:off x="8153248" y="2944368"/>
            <a:ext cx="1447724" cy="528066"/>
          </a:xfrm>
          <a:prstGeom prst="rect">
            <a:avLst/>
          </a:prstGeom>
          <a:noFill/>
          <a:ln/>
        </p:spPr>
        <p:txBody>
          <a:bodyPr wrap="square" lIns="0" tIns="0" rIns="0" bIns="0" rtlCol="0" anchor="b"/>
          <a:lstStyle/>
          <a:p>
            <a:pPr marL="0" indent="0" algn="ctr">
              <a:buNone/>
            </a:pPr>
            <a:r>
              <a:rPr lang="en-US" sz="2600" b="1" dirty="0">
                <a:solidFill>
                  <a:srgbClr val="1C7293"/>
                </a:solidFill>
                <a:latin typeface="Cambria" pitchFamily="34" charset="0"/>
                <a:ea typeface="Cambria" pitchFamily="34" charset="-122"/>
                <a:cs typeface="Cambria" pitchFamily="34" charset="-120"/>
              </a:rPr>
              <a:t>1936</a:t>
            </a:r>
            <a:endParaRPr lang="en-US" sz="2600" dirty="0"/>
          </a:p>
        </p:txBody>
      </p:sp>
      <p:sp>
        <p:nvSpPr>
          <p:cNvPr id="30" name="Text 28"/>
          <p:cNvSpPr txBox="1"/>
          <p:nvPr/>
        </p:nvSpPr>
        <p:spPr>
          <a:xfrm>
            <a:off x="8153248" y="3410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Year built</a:t>
            </a:r>
            <a:endParaRPr lang="en-US" sz="1150" dirty="0"/>
          </a:p>
        </p:txBody>
      </p:sp>
      <p:sp>
        <p:nvSpPr>
          <p:cNvPr id="31" name="Shape 29"/>
          <p:cNvSpPr/>
          <p:nvPr/>
        </p:nvSpPr>
        <p:spPr>
          <a:xfrm>
            <a:off x="9921011" y="2834640"/>
            <a:ext cx="1722044" cy="960120"/>
          </a:xfrm>
          <a:prstGeom prst="roundRect">
            <a:avLst>
              <a:gd name="adj" fmla="val 9524"/>
            </a:avLst>
          </a:prstGeom>
          <a:solidFill>
            <a:srgbClr val="F2F6F8"/>
          </a:solidFill>
          <a:ln/>
          <a:effectLst>
            <a:outerShdw blurRad="76200" dist="25400" dir="5400000" algn="bl" rotWithShape="0">
              <a:srgbClr val="1A1A1A">
                <a:alpha val="15000"/>
              </a:srgbClr>
            </a:outerShdw>
          </a:effectLst>
        </p:spPr>
      </p:sp>
      <p:sp>
        <p:nvSpPr>
          <p:cNvPr id="32" name="Text 30"/>
          <p:cNvSpPr txBox="1"/>
          <p:nvPr/>
        </p:nvSpPr>
        <p:spPr>
          <a:xfrm>
            <a:off x="10058171" y="2944368"/>
            <a:ext cx="1447724" cy="528066"/>
          </a:xfrm>
          <a:prstGeom prst="rect">
            <a:avLst/>
          </a:prstGeom>
          <a:noFill/>
          <a:ln/>
        </p:spPr>
        <p:txBody>
          <a:bodyPr wrap="square" lIns="0" tIns="0" rIns="0" bIns="0" rtlCol="0" anchor="b"/>
          <a:lstStyle/>
          <a:p>
            <a:pPr marL="0" indent="0" algn="ctr">
              <a:buNone/>
            </a:pPr>
            <a:r>
              <a:rPr lang="en-US" sz="2600" b="1" dirty="0">
                <a:solidFill>
                  <a:srgbClr val="1C7293"/>
                </a:solidFill>
                <a:latin typeface="Cambria" pitchFamily="34" charset="0"/>
                <a:ea typeface="Cambria" pitchFamily="34" charset="-122"/>
                <a:cs typeface="Cambria" pitchFamily="34" charset="-120"/>
              </a:rPr>
              <a:t>98105</a:t>
            </a:r>
            <a:endParaRPr lang="en-US" sz="2600" dirty="0"/>
          </a:p>
        </p:txBody>
      </p:sp>
      <p:sp>
        <p:nvSpPr>
          <p:cNvPr id="33" name="Text 31"/>
          <p:cNvSpPr txBox="1"/>
          <p:nvPr/>
        </p:nvSpPr>
        <p:spPr>
          <a:xfrm>
            <a:off x="10058171" y="3410712"/>
            <a:ext cx="1447724" cy="364846"/>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Zip code</a:t>
            </a:r>
            <a:endParaRPr lang="en-US" sz="1150" dirty="0"/>
          </a:p>
        </p:txBody>
      </p:sp>
      <p:sp>
        <p:nvSpPr>
          <p:cNvPr id="34" name="Text 32"/>
          <p:cNvSpPr txBox="1"/>
          <p:nvPr/>
        </p:nvSpPr>
        <p:spPr>
          <a:xfrm>
            <a:off x="4206240" y="4023360"/>
            <a:ext cx="7436815" cy="457200"/>
          </a:xfrm>
          <a:prstGeom prst="rect">
            <a:avLst/>
          </a:prstGeom>
          <a:noFill/>
          <a:ln/>
        </p:spPr>
        <p:txBody>
          <a:bodyPr wrap="square" lIns="0" tIns="0" rIns="0" bIns="0" rtlCol="0" anchor="ctr"/>
          <a:lstStyle/>
          <a:p>
            <a:pPr marL="0" indent="0">
              <a:buNone/>
            </a:pPr>
            <a:r>
              <a:rPr lang="en-US" sz="1150" i="1" dirty="0">
                <a:solidFill>
                  <a:srgbClr val="5A6B75"/>
                </a:solidFill>
                <a:latin typeface="Calibri" pitchFamily="34" charset="0"/>
                <a:ea typeface="Calibri" pitchFamily="34" charset="-122"/>
                <a:cs typeface="Calibri" pitchFamily="34" charset="-120"/>
              </a:rPr>
              <a:t>This house was identified by intersecting Jennifer's two must-haves — waterfront and grade ≥ 10 — with the county's most prestigious zip codes.</a:t>
            </a:r>
            <a:endParaRPr lang="en-US" sz="1150" dirty="0"/>
          </a:p>
        </p:txBody>
      </p:sp>
      <p:sp>
        <p:nvSpPr>
          <p:cNvPr id="35" name="Text 33"/>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The Recommendation</a:t>
            </a:r>
            <a:endParaRPr lang="en-US" sz="900" dirty="0"/>
          </a:p>
        </p:txBody>
      </p:sp>
      <p:sp>
        <p:nvSpPr>
          <p:cNvPr id="36" name="Text 34"/>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pic>
        <p:nvPicPr>
          <p:cNvPr id="37" name="Picture 36" descr="Screenshot">
            <a:extLst>
              <a:ext uri="{FF2B5EF4-FFF2-40B4-BE49-F238E27FC236}">
                <a16:creationId xmlns:a16="http://schemas.microsoft.com/office/drawing/2014/main" id="{AAEC048E-5BA5-3F14-E972-1DFDE2323019}"/>
              </a:ext>
            </a:extLst>
          </p:cNvPr>
          <p:cNvPicPr>
            <a:picLocks noChangeAspect="1"/>
          </p:cNvPicPr>
          <p:nvPr/>
        </p:nvPicPr>
        <p:blipFill>
          <a:blip r:embed="rId3"/>
          <a:stretch>
            <a:fillRect/>
          </a:stretch>
        </p:blipFill>
        <p:spPr>
          <a:xfrm>
            <a:off x="0" y="1334"/>
            <a:ext cx="12192000" cy="6855332"/>
          </a:xfrm>
          <a:prstGeom prst="rect">
            <a:avLst/>
          </a:prstGeom>
        </p:spPr>
      </p:pic>
      <p:pic>
        <p:nvPicPr>
          <p:cNvPr id="38" name="Picture 37">
            <a:extLst>
              <a:ext uri="{FF2B5EF4-FFF2-40B4-BE49-F238E27FC236}">
                <a16:creationId xmlns:a16="http://schemas.microsoft.com/office/drawing/2014/main" id="{1F96E8BC-5336-D7B9-0EA5-3830A3044B00}"/>
              </a:ext>
            </a:extLst>
          </p:cNvPr>
          <p:cNvPicPr>
            <a:picLocks noChangeAspect="1"/>
          </p:cNvPicPr>
          <p:nvPr/>
        </p:nvPicPr>
        <p:blipFill>
          <a:blip r:embed="rId4"/>
          <a:stretch>
            <a:fillRect/>
          </a:stretch>
        </p:blipFill>
        <p:spPr>
          <a:xfrm>
            <a:off x="0" y="1714"/>
            <a:ext cx="12192000" cy="68545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From 21,420 Houses to a Verified Shortlist</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A6B75"/>
                </a:solidFill>
                <a:latin typeface="Calibri" pitchFamily="34" charset="0"/>
                <a:ea typeface="Calibri" pitchFamily="34" charset="-122"/>
                <a:cs typeface="Calibri" pitchFamily="34" charset="-120"/>
              </a:rPr>
              <a:t>Applying Jennifer's non-negotiables narrowed the entire county to a handful of real candidates</a:t>
            </a:r>
            <a:endParaRPr lang="en-US" sz="1500" dirty="0"/>
          </a:p>
        </p:txBody>
      </p:sp>
      <p:sp>
        <p:nvSpPr>
          <p:cNvPr id="4" name="Shape 2"/>
          <p:cNvSpPr/>
          <p:nvPr/>
        </p:nvSpPr>
        <p:spPr>
          <a:xfrm>
            <a:off x="548640" y="1920240"/>
            <a:ext cx="3017520" cy="2651760"/>
          </a:xfrm>
          <a:prstGeom prst="roundRect">
            <a:avLst>
              <a:gd name="adj" fmla="val 3448"/>
            </a:avLst>
          </a:prstGeom>
          <a:solidFill>
            <a:srgbClr val="F2F6F8"/>
          </a:solidFill>
          <a:ln/>
          <a:effectLst>
            <a:outerShdw blurRad="76200" dist="25400" dir="5400000" algn="bl" rotWithShape="0">
              <a:srgbClr val="1A1A1A">
                <a:alpha val="15000"/>
              </a:srgbClr>
            </a:outerShdw>
          </a:effectLst>
        </p:spPr>
      </p:sp>
      <p:sp>
        <p:nvSpPr>
          <p:cNvPr id="5" name="Text 3"/>
          <p:cNvSpPr txBox="1"/>
          <p:nvPr/>
        </p:nvSpPr>
        <p:spPr>
          <a:xfrm>
            <a:off x="640080" y="2514600"/>
            <a:ext cx="2834640" cy="822960"/>
          </a:xfrm>
          <a:prstGeom prst="rect">
            <a:avLst/>
          </a:prstGeom>
          <a:noFill/>
          <a:ln/>
        </p:spPr>
        <p:txBody>
          <a:bodyPr wrap="square" lIns="0" tIns="0" rIns="0" bIns="0" rtlCol="0" anchor="ctr"/>
          <a:lstStyle/>
          <a:p>
            <a:pPr marL="0" indent="0" algn="ctr">
              <a:buNone/>
            </a:pPr>
            <a:r>
              <a:rPr lang="en-US" sz="3400" b="1" dirty="0">
                <a:solidFill>
                  <a:srgbClr val="065A82"/>
                </a:solidFill>
                <a:latin typeface="Cambria" pitchFamily="34" charset="0"/>
                <a:ea typeface="Cambria" pitchFamily="34" charset="-122"/>
                <a:cs typeface="Cambria" pitchFamily="34" charset="-120"/>
              </a:rPr>
              <a:t>21,420</a:t>
            </a:r>
            <a:endParaRPr lang="en-US" sz="3400" dirty="0"/>
          </a:p>
        </p:txBody>
      </p:sp>
      <p:sp>
        <p:nvSpPr>
          <p:cNvPr id="6" name="Text 4"/>
          <p:cNvSpPr txBox="1"/>
          <p:nvPr/>
        </p:nvSpPr>
        <p:spPr>
          <a:xfrm>
            <a:off x="640080" y="3337560"/>
            <a:ext cx="2834640" cy="822960"/>
          </a:xfrm>
          <a:prstGeom prst="rect">
            <a:avLst/>
          </a:prstGeom>
          <a:noFill/>
          <a:ln/>
        </p:spPr>
        <p:txBody>
          <a:bodyPr wrap="square" lIns="0" tIns="0" rIns="0" bIns="0" rtlCol="0" anchor="ctr"/>
          <a:lstStyle/>
          <a:p>
            <a:pPr marL="0" indent="0" algn="ctr">
              <a:buNone/>
            </a:pPr>
            <a:r>
              <a:rPr lang="en-US" sz="1300" dirty="0">
                <a:solidFill>
                  <a:srgbClr val="1F2933"/>
                </a:solidFill>
                <a:latin typeface="Calibri" pitchFamily="34" charset="0"/>
                <a:ea typeface="Calibri" pitchFamily="34" charset="-122"/>
                <a:cs typeface="Calibri" pitchFamily="34" charset="-120"/>
              </a:rPr>
              <a:t>All King County</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home sales</a:t>
            </a:r>
            <a:endParaRPr lang="en-US" sz="1300" dirty="0"/>
          </a:p>
        </p:txBody>
      </p:sp>
      <p:sp>
        <p:nvSpPr>
          <p:cNvPr id="7" name="Text 5"/>
          <p:cNvSpPr txBox="1"/>
          <p:nvPr/>
        </p:nvSpPr>
        <p:spPr>
          <a:xfrm>
            <a:off x="4114800" y="1920240"/>
            <a:ext cx="457200" cy="2651760"/>
          </a:xfrm>
          <a:prstGeom prst="rect">
            <a:avLst/>
          </a:prstGeom>
          <a:noFill/>
          <a:ln/>
        </p:spPr>
        <p:txBody>
          <a:bodyPr wrap="square" lIns="0" tIns="0" rIns="0" bIns="0" rtlCol="0" anchor="ctr"/>
          <a:lstStyle/>
          <a:p>
            <a:pPr marL="0" indent="0" algn="ctr">
              <a:buNone/>
            </a:pPr>
            <a:r>
              <a:rPr lang="en-US" sz="3000" b="1" dirty="0">
                <a:solidFill>
                  <a:srgbClr val="5A6B75"/>
                </a:solidFill>
                <a:latin typeface="Calibri" pitchFamily="34" charset="0"/>
                <a:ea typeface="Calibri" pitchFamily="34" charset="-122"/>
                <a:cs typeface="Calibri" pitchFamily="34" charset="-120"/>
              </a:rPr>
              <a:t>→</a:t>
            </a:r>
            <a:endParaRPr lang="en-US" sz="3000" dirty="0"/>
          </a:p>
        </p:txBody>
      </p:sp>
      <p:sp>
        <p:nvSpPr>
          <p:cNvPr id="8" name="Shape 6"/>
          <p:cNvSpPr/>
          <p:nvPr/>
        </p:nvSpPr>
        <p:spPr>
          <a:xfrm>
            <a:off x="4572000" y="1920240"/>
            <a:ext cx="3931920" cy="2651760"/>
          </a:xfrm>
          <a:prstGeom prst="roundRect">
            <a:avLst>
              <a:gd name="adj" fmla="val 3448"/>
            </a:avLst>
          </a:prstGeom>
          <a:solidFill>
            <a:srgbClr val="F2F6F8"/>
          </a:solidFill>
          <a:ln/>
          <a:effectLst>
            <a:outerShdw blurRad="76200" dist="25400" dir="5400000" algn="bl" rotWithShape="0">
              <a:srgbClr val="1A1A1A">
                <a:alpha val="15000"/>
              </a:srgbClr>
            </a:outerShdw>
          </a:effectLst>
        </p:spPr>
      </p:sp>
      <p:sp>
        <p:nvSpPr>
          <p:cNvPr id="9" name="Text 7"/>
          <p:cNvSpPr txBox="1"/>
          <p:nvPr/>
        </p:nvSpPr>
        <p:spPr>
          <a:xfrm>
            <a:off x="4846320" y="2103120"/>
            <a:ext cx="3383280" cy="41148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Applying Jennifer's non-negotiables:</a:t>
            </a:r>
            <a:endParaRPr lang="en-US" sz="1300" dirty="0"/>
          </a:p>
        </p:txBody>
      </p:sp>
      <p:sp>
        <p:nvSpPr>
          <p:cNvPr id="10" name="Shape 8"/>
          <p:cNvSpPr/>
          <p:nvPr/>
        </p:nvSpPr>
        <p:spPr>
          <a:xfrm>
            <a:off x="4846320" y="2624328"/>
            <a:ext cx="219456" cy="219456"/>
          </a:xfrm>
          <a:prstGeom prst="ellipse">
            <a:avLst/>
          </a:prstGeom>
          <a:solidFill>
            <a:srgbClr val="1C7293"/>
          </a:solidFill>
          <a:ln/>
        </p:spPr>
      </p:sp>
      <p:sp>
        <p:nvSpPr>
          <p:cNvPr id="11" name="Text 9"/>
          <p:cNvSpPr txBox="1"/>
          <p:nvPr/>
        </p:nvSpPr>
        <p:spPr>
          <a:xfrm>
            <a:off x="4846320" y="262432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txBox="1"/>
          <p:nvPr/>
        </p:nvSpPr>
        <p:spPr>
          <a:xfrm>
            <a:off x="5212080" y="2606040"/>
            <a:ext cx="3017520" cy="50292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Waterfront</a:t>
            </a:r>
            <a:endParaRPr lang="en-US" sz="1300" dirty="0"/>
          </a:p>
        </p:txBody>
      </p:sp>
      <p:sp>
        <p:nvSpPr>
          <p:cNvPr id="13" name="Shape 11"/>
          <p:cNvSpPr/>
          <p:nvPr/>
        </p:nvSpPr>
        <p:spPr>
          <a:xfrm>
            <a:off x="4846320" y="3218688"/>
            <a:ext cx="219456" cy="219456"/>
          </a:xfrm>
          <a:prstGeom prst="ellipse">
            <a:avLst/>
          </a:prstGeom>
          <a:solidFill>
            <a:srgbClr val="1C7293"/>
          </a:solidFill>
          <a:ln/>
        </p:spPr>
      </p:sp>
      <p:sp>
        <p:nvSpPr>
          <p:cNvPr id="14" name="Text 12"/>
          <p:cNvSpPr txBox="1"/>
          <p:nvPr/>
        </p:nvSpPr>
        <p:spPr>
          <a:xfrm>
            <a:off x="4846320" y="321868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txBox="1"/>
          <p:nvPr/>
        </p:nvSpPr>
        <p:spPr>
          <a:xfrm>
            <a:off x="5212080" y="3200400"/>
            <a:ext cx="3017520" cy="50292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Grade ≥ 10</a:t>
            </a:r>
            <a:endParaRPr lang="en-US" sz="1300" dirty="0"/>
          </a:p>
        </p:txBody>
      </p:sp>
      <p:sp>
        <p:nvSpPr>
          <p:cNvPr id="16" name="Shape 14"/>
          <p:cNvSpPr/>
          <p:nvPr/>
        </p:nvSpPr>
        <p:spPr>
          <a:xfrm>
            <a:off x="4846320" y="3813048"/>
            <a:ext cx="219456" cy="219456"/>
          </a:xfrm>
          <a:prstGeom prst="ellipse">
            <a:avLst/>
          </a:prstGeom>
          <a:solidFill>
            <a:srgbClr val="1C7293"/>
          </a:solidFill>
          <a:ln/>
        </p:spPr>
      </p:sp>
      <p:sp>
        <p:nvSpPr>
          <p:cNvPr id="17" name="Text 15"/>
          <p:cNvSpPr txBox="1"/>
          <p:nvPr/>
        </p:nvSpPr>
        <p:spPr>
          <a:xfrm>
            <a:off x="4846320" y="381304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txBox="1"/>
          <p:nvPr/>
        </p:nvSpPr>
        <p:spPr>
          <a:xfrm>
            <a:off x="5212080" y="3794760"/>
            <a:ext cx="3017520" cy="50292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Complete data on view &amp; renovation status</a:t>
            </a:r>
            <a:endParaRPr lang="en-US" sz="1300" dirty="0"/>
          </a:p>
        </p:txBody>
      </p:sp>
      <p:sp>
        <p:nvSpPr>
          <p:cNvPr id="19" name="Text 17"/>
          <p:cNvSpPr txBox="1"/>
          <p:nvPr/>
        </p:nvSpPr>
        <p:spPr>
          <a:xfrm>
            <a:off x="8686800" y="1920240"/>
            <a:ext cx="457200" cy="2651760"/>
          </a:xfrm>
          <a:prstGeom prst="rect">
            <a:avLst/>
          </a:prstGeom>
          <a:noFill/>
          <a:ln/>
        </p:spPr>
        <p:txBody>
          <a:bodyPr wrap="square" lIns="0" tIns="0" rIns="0" bIns="0" rtlCol="0" anchor="ctr"/>
          <a:lstStyle/>
          <a:p>
            <a:pPr marL="0" indent="0" algn="ctr">
              <a:buNone/>
            </a:pPr>
            <a:r>
              <a:rPr lang="en-US" sz="3000" b="1" dirty="0">
                <a:solidFill>
                  <a:srgbClr val="5A6B75"/>
                </a:solidFill>
                <a:latin typeface="Calibri" pitchFamily="34" charset="0"/>
                <a:ea typeface="Calibri" pitchFamily="34" charset="-122"/>
                <a:cs typeface="Calibri" pitchFamily="34" charset="-120"/>
              </a:rPr>
              <a:t>→</a:t>
            </a:r>
            <a:endParaRPr lang="en-US" sz="3000" dirty="0"/>
          </a:p>
        </p:txBody>
      </p:sp>
      <p:sp>
        <p:nvSpPr>
          <p:cNvPr id="20" name="Shape 18"/>
          <p:cNvSpPr/>
          <p:nvPr/>
        </p:nvSpPr>
        <p:spPr>
          <a:xfrm>
            <a:off x="9326880" y="1920240"/>
            <a:ext cx="2862072" cy="2651760"/>
          </a:xfrm>
          <a:prstGeom prst="roundRect">
            <a:avLst>
              <a:gd name="adj" fmla="val 3448"/>
            </a:avLst>
          </a:prstGeom>
          <a:solidFill>
            <a:srgbClr val="21295C"/>
          </a:solidFill>
          <a:ln/>
          <a:effectLst>
            <a:outerShdw blurRad="76200" dist="25400" dir="5400000" algn="bl" rotWithShape="0">
              <a:srgbClr val="1A1A1A">
                <a:alpha val="15000"/>
              </a:srgbClr>
            </a:outerShdw>
          </a:effectLst>
        </p:spPr>
      </p:sp>
      <p:sp>
        <p:nvSpPr>
          <p:cNvPr id="21" name="Text 19"/>
          <p:cNvSpPr txBox="1"/>
          <p:nvPr/>
        </p:nvSpPr>
        <p:spPr>
          <a:xfrm>
            <a:off x="9418320" y="2514600"/>
            <a:ext cx="2679192"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46</a:t>
            </a:r>
            <a:endParaRPr lang="en-US" sz="3400" dirty="0"/>
          </a:p>
        </p:txBody>
      </p:sp>
      <p:sp>
        <p:nvSpPr>
          <p:cNvPr id="22" name="Text 20"/>
          <p:cNvSpPr txBox="1"/>
          <p:nvPr/>
        </p:nvSpPr>
        <p:spPr>
          <a:xfrm>
            <a:off x="9418320" y="3337560"/>
            <a:ext cx="2679192" cy="822960"/>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Verified candidates</a:t>
            </a:r>
            <a:endParaRPr lang="en-US" sz="1250" dirty="0"/>
          </a:p>
          <a:p>
            <a:pPr marL="0" indent="0" algn="ctr">
              <a:buNone/>
            </a:pPr>
            <a:r>
              <a:rPr lang="en-US" sz="1250" dirty="0">
                <a:solidFill>
                  <a:srgbClr val="CADCFC"/>
                </a:solidFill>
                <a:latin typeface="Calibri" pitchFamily="34" charset="0"/>
                <a:ea typeface="Calibri" pitchFamily="34" charset="-122"/>
                <a:cs typeface="Calibri" pitchFamily="34" charset="-120"/>
              </a:rPr>
              <a:t>on Jennifer's shortlist</a:t>
            </a:r>
            <a:endParaRPr lang="en-US" sz="1250" dirty="0"/>
          </a:p>
        </p:txBody>
      </p:sp>
      <p:sp>
        <p:nvSpPr>
          <p:cNvPr id="23" name="Text 21"/>
          <p:cNvSpPr txBox="1"/>
          <p:nvPr/>
        </p:nvSpPr>
        <p:spPr>
          <a:xfrm>
            <a:off x="548640" y="5029200"/>
            <a:ext cx="11094415" cy="457200"/>
          </a:xfrm>
          <a:prstGeom prst="rect">
            <a:avLst/>
          </a:prstGeom>
          <a:noFill/>
          <a:ln/>
        </p:spPr>
        <p:txBody>
          <a:bodyPr wrap="square" lIns="0" tIns="0" rIns="0" bIns="0" rtlCol="0" anchor="ctr"/>
          <a:lstStyle/>
          <a:p>
            <a:pPr marL="0" indent="0" algn="ctr">
              <a:buNone/>
            </a:pPr>
            <a:r>
              <a:rPr lang="en-US" sz="1300" i="1" dirty="0">
                <a:solidFill>
                  <a:srgbClr val="5A6B75"/>
                </a:solidFill>
                <a:latin typeface="Calibri" pitchFamily="34" charset="0"/>
                <a:ea typeface="Calibri" pitchFamily="34" charset="-122"/>
                <a:cs typeface="Calibri" pitchFamily="34" charset="-120"/>
              </a:rPr>
              <a:t>Every house on this shortlist was individually checked against Jennifer's remaining wishes before one was chosen as the top recommendation.</a:t>
            </a:r>
            <a:endParaRPr lang="en-US" sz="1300" dirty="0"/>
          </a:p>
        </p:txBody>
      </p:sp>
      <p:sp>
        <p:nvSpPr>
          <p:cNvPr id="24" name="Text 22"/>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Narrowing the Field</a:t>
            </a:r>
            <a:endParaRPr lang="en-US" sz="900" dirty="0"/>
          </a:p>
        </p:txBody>
      </p:sp>
      <p:sp>
        <p:nvSpPr>
          <p:cNvPr id="25" name="Text 23"/>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pic>
        <p:nvPicPr>
          <p:cNvPr id="26" name="Picture 25">
            <a:extLst>
              <a:ext uri="{FF2B5EF4-FFF2-40B4-BE49-F238E27FC236}">
                <a16:creationId xmlns:a16="http://schemas.microsoft.com/office/drawing/2014/main" id="{503DA6BA-B041-CAB8-FFF4-4C2595FE5856}"/>
              </a:ext>
            </a:extLst>
          </p:cNvPr>
          <p:cNvPicPr>
            <a:picLocks noChangeAspect="1"/>
          </p:cNvPicPr>
          <p:nvPr/>
        </p:nvPicPr>
        <p:blipFill>
          <a:blip r:embed="rId3"/>
          <a:stretch>
            <a:fillRect/>
          </a:stretch>
        </p:blipFill>
        <p:spPr>
          <a:xfrm>
            <a:off x="0" y="1714"/>
            <a:ext cx="12192000" cy="68545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From Wishes to Evidence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A6B75"/>
                </a:solidFill>
                <a:latin typeface="Calibri" pitchFamily="34" charset="0"/>
                <a:ea typeface="Calibri" pitchFamily="34" charset="-122"/>
                <a:cs typeface="Calibri" pitchFamily="34" charset="-120"/>
              </a:rPr>
              <a:t>Six wishes had an obvious signal — one took real detective work</a:t>
            </a:r>
            <a:endParaRPr lang="en-US" sz="1500" dirty="0"/>
          </a:p>
        </p:txBody>
      </p:sp>
      <p:sp>
        <p:nvSpPr>
          <p:cNvPr id="4" name="Shape 2"/>
          <p:cNvSpPr/>
          <p:nvPr/>
        </p:nvSpPr>
        <p:spPr>
          <a:xfrm>
            <a:off x="548640" y="1874520"/>
            <a:ext cx="5577840" cy="566928"/>
          </a:xfrm>
          <a:prstGeom prst="roundRect">
            <a:avLst>
              <a:gd name="adj" fmla="val 11290"/>
            </a:avLst>
          </a:prstGeom>
          <a:solidFill>
            <a:srgbClr val="F2F6F8"/>
          </a:solidFill>
          <a:ln/>
        </p:spPr>
      </p:sp>
      <p:sp>
        <p:nvSpPr>
          <p:cNvPr id="5" name="Shape 3"/>
          <p:cNvSpPr/>
          <p:nvPr/>
        </p:nvSpPr>
        <p:spPr>
          <a:xfrm>
            <a:off x="548640" y="1874520"/>
            <a:ext cx="73152" cy="566928"/>
          </a:xfrm>
          <a:prstGeom prst="roundRect">
            <a:avLst/>
          </a:prstGeom>
          <a:solidFill>
            <a:srgbClr val="065A82"/>
          </a:solidFill>
          <a:ln/>
        </p:spPr>
      </p:sp>
      <p:sp>
        <p:nvSpPr>
          <p:cNvPr id="6" name="Text 4"/>
          <p:cNvSpPr txBox="1"/>
          <p:nvPr/>
        </p:nvSpPr>
        <p:spPr>
          <a:xfrm>
            <a:off x="822960" y="1874520"/>
            <a:ext cx="2454250"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High budget</a:t>
            </a:r>
            <a:endParaRPr lang="en-US" sz="1300" dirty="0"/>
          </a:p>
        </p:txBody>
      </p:sp>
      <p:sp>
        <p:nvSpPr>
          <p:cNvPr id="7" name="Text 5"/>
          <p:cNvSpPr txBox="1"/>
          <p:nvPr/>
        </p:nvSpPr>
        <p:spPr>
          <a:xfrm>
            <a:off x="2891333" y="1874520"/>
            <a:ext cx="3123590" cy="566928"/>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Price percentile vs. the whole county</a:t>
            </a:r>
            <a:endParaRPr lang="en-US" sz="1050" dirty="0"/>
          </a:p>
        </p:txBody>
      </p:sp>
      <p:sp>
        <p:nvSpPr>
          <p:cNvPr id="8" name="Shape 6"/>
          <p:cNvSpPr/>
          <p:nvPr/>
        </p:nvSpPr>
        <p:spPr>
          <a:xfrm>
            <a:off x="548640" y="2532888"/>
            <a:ext cx="5577840" cy="566928"/>
          </a:xfrm>
          <a:prstGeom prst="roundRect">
            <a:avLst>
              <a:gd name="adj" fmla="val 11290"/>
            </a:avLst>
          </a:prstGeom>
          <a:solidFill>
            <a:srgbClr val="F2F6F8"/>
          </a:solidFill>
          <a:ln/>
        </p:spPr>
      </p:sp>
      <p:sp>
        <p:nvSpPr>
          <p:cNvPr id="9" name="Shape 7"/>
          <p:cNvSpPr/>
          <p:nvPr/>
        </p:nvSpPr>
        <p:spPr>
          <a:xfrm>
            <a:off x="548640" y="2532888"/>
            <a:ext cx="73152" cy="566928"/>
          </a:xfrm>
          <a:prstGeom prst="roundRect">
            <a:avLst/>
          </a:prstGeom>
          <a:solidFill>
            <a:srgbClr val="1C7293"/>
          </a:solidFill>
          <a:ln/>
        </p:spPr>
      </p:sp>
      <p:sp>
        <p:nvSpPr>
          <p:cNvPr id="10" name="Text 8"/>
          <p:cNvSpPr txBox="1"/>
          <p:nvPr/>
        </p:nvSpPr>
        <p:spPr>
          <a:xfrm>
            <a:off x="822960" y="2532888"/>
            <a:ext cx="2454250"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Timing within a month</a:t>
            </a:r>
            <a:endParaRPr lang="en-US" sz="1300" dirty="0"/>
          </a:p>
        </p:txBody>
      </p:sp>
      <p:sp>
        <p:nvSpPr>
          <p:cNvPr id="11" name="Text 9"/>
          <p:cNvSpPr txBox="1"/>
          <p:nvPr/>
        </p:nvSpPr>
        <p:spPr>
          <a:xfrm>
            <a:off x="2891333" y="2532888"/>
            <a:ext cx="3123590" cy="566928"/>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Historical sale-frequency pattern</a:t>
            </a:r>
            <a:endParaRPr lang="en-US" sz="1050" dirty="0"/>
          </a:p>
        </p:txBody>
      </p:sp>
      <p:sp>
        <p:nvSpPr>
          <p:cNvPr id="12" name="Shape 10"/>
          <p:cNvSpPr/>
          <p:nvPr/>
        </p:nvSpPr>
        <p:spPr>
          <a:xfrm>
            <a:off x="548640" y="3191256"/>
            <a:ext cx="5577840" cy="566928"/>
          </a:xfrm>
          <a:prstGeom prst="roundRect">
            <a:avLst>
              <a:gd name="adj" fmla="val 11290"/>
            </a:avLst>
          </a:prstGeom>
          <a:solidFill>
            <a:srgbClr val="F2F6F8"/>
          </a:solidFill>
          <a:ln/>
        </p:spPr>
      </p:sp>
      <p:sp>
        <p:nvSpPr>
          <p:cNvPr id="13" name="Shape 11"/>
          <p:cNvSpPr/>
          <p:nvPr/>
        </p:nvSpPr>
        <p:spPr>
          <a:xfrm>
            <a:off x="548640" y="3191256"/>
            <a:ext cx="73152" cy="566928"/>
          </a:xfrm>
          <a:prstGeom prst="roundRect">
            <a:avLst/>
          </a:prstGeom>
          <a:solidFill>
            <a:srgbClr val="065A82"/>
          </a:solidFill>
          <a:ln/>
        </p:spPr>
      </p:sp>
      <p:sp>
        <p:nvSpPr>
          <p:cNvPr id="14" name="Text 12"/>
          <p:cNvSpPr txBox="1"/>
          <p:nvPr/>
        </p:nvSpPr>
        <p:spPr>
          <a:xfrm>
            <a:off x="822960" y="3191256"/>
            <a:ext cx="2454250"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Waterfront</a:t>
            </a:r>
            <a:endParaRPr lang="en-US" sz="1300" dirty="0"/>
          </a:p>
        </p:txBody>
      </p:sp>
      <p:sp>
        <p:nvSpPr>
          <p:cNvPr id="15" name="Text 13"/>
          <p:cNvSpPr txBox="1"/>
          <p:nvPr/>
        </p:nvSpPr>
        <p:spPr>
          <a:xfrm>
            <a:off x="2891333" y="3191256"/>
            <a:ext cx="3123590" cy="566928"/>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Waterfront flag (must-have filter)</a:t>
            </a:r>
            <a:endParaRPr lang="en-US" sz="1050" dirty="0"/>
          </a:p>
        </p:txBody>
      </p:sp>
      <p:sp>
        <p:nvSpPr>
          <p:cNvPr id="16" name="Shape 14"/>
          <p:cNvSpPr/>
          <p:nvPr/>
        </p:nvSpPr>
        <p:spPr>
          <a:xfrm>
            <a:off x="548640" y="3849624"/>
            <a:ext cx="5577840" cy="566928"/>
          </a:xfrm>
          <a:prstGeom prst="roundRect">
            <a:avLst>
              <a:gd name="adj" fmla="val 11290"/>
            </a:avLst>
          </a:prstGeom>
          <a:solidFill>
            <a:srgbClr val="F2F6F8"/>
          </a:solidFill>
          <a:ln/>
        </p:spPr>
      </p:sp>
      <p:sp>
        <p:nvSpPr>
          <p:cNvPr id="17" name="Shape 15"/>
          <p:cNvSpPr/>
          <p:nvPr/>
        </p:nvSpPr>
        <p:spPr>
          <a:xfrm>
            <a:off x="548640" y="3849624"/>
            <a:ext cx="73152" cy="566928"/>
          </a:xfrm>
          <a:prstGeom prst="roundRect">
            <a:avLst/>
          </a:prstGeom>
          <a:solidFill>
            <a:srgbClr val="1C7293"/>
          </a:solidFill>
          <a:ln/>
        </p:spPr>
      </p:sp>
      <p:sp>
        <p:nvSpPr>
          <p:cNvPr id="18" name="Text 16"/>
          <p:cNvSpPr txBox="1"/>
          <p:nvPr/>
        </p:nvSpPr>
        <p:spPr>
          <a:xfrm>
            <a:off x="822960" y="3849624"/>
            <a:ext cx="2454250"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Renovated</a:t>
            </a:r>
            <a:endParaRPr lang="en-US" sz="1300" dirty="0"/>
          </a:p>
        </p:txBody>
      </p:sp>
      <p:sp>
        <p:nvSpPr>
          <p:cNvPr id="19" name="Text 17"/>
          <p:cNvSpPr txBox="1"/>
          <p:nvPr/>
        </p:nvSpPr>
        <p:spPr>
          <a:xfrm>
            <a:off x="2891333" y="3849624"/>
            <a:ext cx="3123590" cy="566928"/>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Renovation year &amp; condition score</a:t>
            </a:r>
            <a:endParaRPr lang="en-US" sz="1050" dirty="0"/>
          </a:p>
        </p:txBody>
      </p:sp>
      <p:sp>
        <p:nvSpPr>
          <p:cNvPr id="20" name="Shape 18"/>
          <p:cNvSpPr/>
          <p:nvPr/>
        </p:nvSpPr>
        <p:spPr>
          <a:xfrm>
            <a:off x="548640" y="4507992"/>
            <a:ext cx="5577840" cy="566928"/>
          </a:xfrm>
          <a:prstGeom prst="roundRect">
            <a:avLst>
              <a:gd name="adj" fmla="val 11290"/>
            </a:avLst>
          </a:prstGeom>
          <a:solidFill>
            <a:srgbClr val="F2F6F8"/>
          </a:solidFill>
          <a:ln/>
        </p:spPr>
      </p:sp>
      <p:sp>
        <p:nvSpPr>
          <p:cNvPr id="21" name="Shape 19"/>
          <p:cNvSpPr/>
          <p:nvPr/>
        </p:nvSpPr>
        <p:spPr>
          <a:xfrm>
            <a:off x="548640" y="4507992"/>
            <a:ext cx="73152" cy="566928"/>
          </a:xfrm>
          <a:prstGeom prst="roundRect">
            <a:avLst/>
          </a:prstGeom>
          <a:solidFill>
            <a:srgbClr val="065A82"/>
          </a:solidFill>
          <a:ln/>
        </p:spPr>
      </p:sp>
      <p:sp>
        <p:nvSpPr>
          <p:cNvPr id="22" name="Text 20"/>
          <p:cNvSpPr txBox="1"/>
          <p:nvPr/>
        </p:nvSpPr>
        <p:spPr>
          <a:xfrm>
            <a:off x="822960" y="4507992"/>
            <a:ext cx="2454250"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High grades</a:t>
            </a:r>
            <a:endParaRPr lang="en-US" sz="1300" dirty="0"/>
          </a:p>
        </p:txBody>
      </p:sp>
      <p:sp>
        <p:nvSpPr>
          <p:cNvPr id="23" name="Text 21"/>
          <p:cNvSpPr txBox="1"/>
          <p:nvPr/>
        </p:nvSpPr>
        <p:spPr>
          <a:xfrm>
            <a:off x="2891333" y="4507992"/>
            <a:ext cx="3123590" cy="566928"/>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Construction grade ≥ 10 (must-have filter)</a:t>
            </a:r>
            <a:endParaRPr lang="en-US" sz="1050" dirty="0"/>
          </a:p>
        </p:txBody>
      </p:sp>
      <p:sp>
        <p:nvSpPr>
          <p:cNvPr id="24" name="Shape 22"/>
          <p:cNvSpPr/>
          <p:nvPr/>
        </p:nvSpPr>
        <p:spPr>
          <a:xfrm>
            <a:off x="548640" y="5166360"/>
            <a:ext cx="5577840" cy="566928"/>
          </a:xfrm>
          <a:prstGeom prst="roundRect">
            <a:avLst>
              <a:gd name="adj" fmla="val 11290"/>
            </a:avLst>
          </a:prstGeom>
          <a:solidFill>
            <a:srgbClr val="F2F6F8"/>
          </a:solidFill>
          <a:ln/>
        </p:spPr>
      </p:sp>
      <p:sp>
        <p:nvSpPr>
          <p:cNvPr id="25" name="Shape 23"/>
          <p:cNvSpPr/>
          <p:nvPr/>
        </p:nvSpPr>
        <p:spPr>
          <a:xfrm>
            <a:off x="548640" y="5166360"/>
            <a:ext cx="73152" cy="566928"/>
          </a:xfrm>
          <a:prstGeom prst="roundRect">
            <a:avLst/>
          </a:prstGeom>
          <a:solidFill>
            <a:srgbClr val="1C7293"/>
          </a:solidFill>
          <a:ln/>
        </p:spPr>
      </p:sp>
      <p:sp>
        <p:nvSpPr>
          <p:cNvPr id="26" name="Text 24"/>
          <p:cNvSpPr txBox="1"/>
          <p:nvPr/>
        </p:nvSpPr>
        <p:spPr>
          <a:xfrm>
            <a:off x="822960" y="5166360"/>
            <a:ext cx="2454250"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Resell within 1 year</a:t>
            </a:r>
            <a:endParaRPr lang="en-US" sz="1300" dirty="0"/>
          </a:p>
        </p:txBody>
      </p:sp>
      <p:sp>
        <p:nvSpPr>
          <p:cNvPr id="27" name="Text 25"/>
          <p:cNvSpPr txBox="1"/>
          <p:nvPr/>
        </p:nvSpPr>
        <p:spPr>
          <a:xfrm>
            <a:off x="2891333" y="5166360"/>
            <a:ext cx="3123590" cy="566928"/>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Comparable repeat-sale homes</a:t>
            </a:r>
            <a:endParaRPr lang="en-US" sz="1050" dirty="0"/>
          </a:p>
        </p:txBody>
      </p:sp>
      <p:sp>
        <p:nvSpPr>
          <p:cNvPr id="28" name="Shape 26"/>
          <p:cNvSpPr/>
          <p:nvPr/>
        </p:nvSpPr>
        <p:spPr>
          <a:xfrm>
            <a:off x="6400800" y="1874520"/>
            <a:ext cx="5242255" cy="3858768"/>
          </a:xfrm>
          <a:prstGeom prst="roundRect">
            <a:avLst>
              <a:gd name="adj" fmla="val 2844"/>
            </a:avLst>
          </a:prstGeom>
          <a:solidFill>
            <a:srgbClr val="21295C"/>
          </a:solidFill>
          <a:ln/>
          <a:effectLst>
            <a:outerShdw blurRad="76200" dist="25400" dir="5400000" algn="bl" rotWithShape="0">
              <a:srgbClr val="1A1A1A">
                <a:alpha val="15000"/>
              </a:srgbClr>
            </a:outerShdw>
          </a:effectLst>
        </p:spPr>
      </p:sp>
      <p:sp>
        <p:nvSpPr>
          <p:cNvPr id="29" name="Shape 27"/>
          <p:cNvSpPr/>
          <p:nvPr/>
        </p:nvSpPr>
        <p:spPr>
          <a:xfrm>
            <a:off x="6675120" y="2103120"/>
            <a:ext cx="1554480" cy="365760"/>
          </a:xfrm>
          <a:prstGeom prst="roundRect">
            <a:avLst>
              <a:gd name="adj" fmla="val 20000"/>
            </a:avLst>
          </a:prstGeom>
          <a:solidFill>
            <a:srgbClr val="C44E52"/>
          </a:solidFill>
          <a:ln/>
        </p:spPr>
      </p:sp>
      <p:sp>
        <p:nvSpPr>
          <p:cNvPr id="30" name="Text 28"/>
          <p:cNvSpPr txBox="1"/>
          <p:nvPr/>
        </p:nvSpPr>
        <p:spPr>
          <a:xfrm>
            <a:off x="6675120" y="210312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TRICKY ONE</a:t>
            </a:r>
            <a:endParaRPr lang="en-US" sz="1300" dirty="0"/>
          </a:p>
        </p:txBody>
      </p:sp>
      <p:sp>
        <p:nvSpPr>
          <p:cNvPr id="31" name="Text 29"/>
          <p:cNvSpPr txBox="1"/>
          <p:nvPr/>
        </p:nvSpPr>
        <p:spPr>
          <a:xfrm>
            <a:off x="6675120" y="2587752"/>
            <a:ext cx="4693615"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Wants to Show Off</a:t>
            </a:r>
            <a:endParaRPr lang="en-US" sz="2000" dirty="0"/>
          </a:p>
        </p:txBody>
      </p:sp>
      <p:sp>
        <p:nvSpPr>
          <p:cNvPr id="32" name="Text 30"/>
          <p:cNvSpPr txBox="1"/>
          <p:nvPr/>
        </p:nvSpPr>
        <p:spPr>
          <a:xfrm>
            <a:off x="6675120" y="3044952"/>
            <a:ext cx="4693615"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No column says “impressive.” I measured it two ways:</a:t>
            </a:r>
            <a:endParaRPr lang="en-US" sz="1200" dirty="0"/>
          </a:p>
        </p:txBody>
      </p:sp>
      <p:sp>
        <p:nvSpPr>
          <p:cNvPr id="33" name="Shape 31"/>
          <p:cNvSpPr/>
          <p:nvPr/>
        </p:nvSpPr>
        <p:spPr>
          <a:xfrm>
            <a:off x="6675120" y="3474720"/>
            <a:ext cx="2232508" cy="1280160"/>
          </a:xfrm>
          <a:prstGeom prst="roundRect">
            <a:avLst>
              <a:gd name="adj" fmla="val 7143"/>
            </a:avLst>
          </a:prstGeom>
          <a:solidFill>
            <a:srgbClr val="F2F6F8"/>
          </a:solidFill>
          <a:ln/>
          <a:effectLst>
            <a:outerShdw blurRad="76200" dist="25400" dir="5400000" algn="bl" rotWithShape="0">
              <a:srgbClr val="1A1A1A">
                <a:alpha val="15000"/>
              </a:srgbClr>
            </a:outerShdw>
          </a:effectLst>
        </p:spPr>
      </p:sp>
      <p:sp>
        <p:nvSpPr>
          <p:cNvPr id="34" name="Text 32"/>
          <p:cNvSpPr txBox="1"/>
          <p:nvPr/>
        </p:nvSpPr>
        <p:spPr>
          <a:xfrm>
            <a:off x="6812280" y="3584448"/>
            <a:ext cx="1958188" cy="704088"/>
          </a:xfrm>
          <a:prstGeom prst="rect">
            <a:avLst/>
          </a:prstGeom>
          <a:noFill/>
          <a:ln/>
        </p:spPr>
        <p:txBody>
          <a:bodyPr wrap="square" lIns="0" tIns="0" rIns="0" bIns="0" rtlCol="0" anchor="b"/>
          <a:lstStyle/>
          <a:p>
            <a:pPr marL="0" indent="0" algn="ctr">
              <a:buNone/>
            </a:pPr>
            <a:r>
              <a:rPr lang="en-US" sz="2600" b="1" dirty="0">
                <a:solidFill>
                  <a:srgbClr val="065A82"/>
                </a:solidFill>
                <a:latin typeface="Cambria" pitchFamily="34" charset="0"/>
                <a:ea typeface="Cambria" pitchFamily="34" charset="-122"/>
                <a:cs typeface="Cambria" pitchFamily="34" charset="-120"/>
              </a:rPr>
              <a:t>76%</a:t>
            </a:r>
            <a:endParaRPr lang="en-US" sz="2600" dirty="0"/>
          </a:p>
        </p:txBody>
      </p:sp>
      <p:sp>
        <p:nvSpPr>
          <p:cNvPr id="35" name="Text 33"/>
          <p:cNvSpPr txBox="1"/>
          <p:nvPr/>
        </p:nvSpPr>
        <p:spPr>
          <a:xfrm>
            <a:off x="6812280" y="4242816"/>
            <a:ext cx="1958188" cy="486461"/>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bigger than their 15 nearest neighbors</a:t>
            </a:r>
            <a:endParaRPr lang="en-US" sz="1150" dirty="0"/>
          </a:p>
        </p:txBody>
      </p:sp>
      <p:sp>
        <p:nvSpPr>
          <p:cNvPr id="36" name="Shape 34"/>
          <p:cNvSpPr/>
          <p:nvPr/>
        </p:nvSpPr>
        <p:spPr>
          <a:xfrm>
            <a:off x="9136228" y="3474720"/>
            <a:ext cx="2232508" cy="1280160"/>
          </a:xfrm>
          <a:prstGeom prst="roundRect">
            <a:avLst>
              <a:gd name="adj" fmla="val 7143"/>
            </a:avLst>
          </a:prstGeom>
          <a:solidFill>
            <a:srgbClr val="F2F6F8"/>
          </a:solidFill>
          <a:ln/>
          <a:effectLst>
            <a:outerShdw blurRad="76200" dist="25400" dir="5400000" algn="bl" rotWithShape="0">
              <a:srgbClr val="1A1A1A">
                <a:alpha val="15000"/>
              </a:srgbClr>
            </a:outerShdw>
          </a:effectLst>
        </p:spPr>
      </p:sp>
      <p:sp>
        <p:nvSpPr>
          <p:cNvPr id="37" name="Text 35"/>
          <p:cNvSpPr txBox="1"/>
          <p:nvPr/>
        </p:nvSpPr>
        <p:spPr>
          <a:xfrm>
            <a:off x="9273388" y="3584448"/>
            <a:ext cx="1958188" cy="704088"/>
          </a:xfrm>
          <a:prstGeom prst="rect">
            <a:avLst/>
          </a:prstGeom>
          <a:noFill/>
          <a:ln/>
        </p:spPr>
        <p:txBody>
          <a:bodyPr wrap="square" lIns="0" tIns="0" rIns="0" bIns="0" rtlCol="0" anchor="b"/>
          <a:lstStyle/>
          <a:p>
            <a:pPr marL="0" indent="0" algn="ctr">
              <a:buNone/>
            </a:pPr>
            <a:r>
              <a:rPr lang="en-US" sz="2600" b="1" dirty="0">
                <a:solidFill>
                  <a:srgbClr val="1C7293"/>
                </a:solidFill>
                <a:latin typeface="Cambria" pitchFamily="34" charset="0"/>
                <a:ea typeface="Cambria" pitchFamily="34" charset="-122"/>
                <a:cs typeface="Cambria" pitchFamily="34" charset="-120"/>
              </a:rPr>
              <a:t>46%</a:t>
            </a:r>
            <a:endParaRPr lang="en-US" sz="2600" dirty="0"/>
          </a:p>
        </p:txBody>
      </p:sp>
      <p:sp>
        <p:nvSpPr>
          <p:cNvPr id="38" name="Text 36"/>
          <p:cNvSpPr txBox="1"/>
          <p:nvPr/>
        </p:nvSpPr>
        <p:spPr>
          <a:xfrm>
            <a:off x="9273388" y="4242816"/>
            <a:ext cx="1958188" cy="486461"/>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sit in a county-wide “Prestige Location” zip</a:t>
            </a:r>
            <a:endParaRPr lang="en-US" sz="1150" dirty="0"/>
          </a:p>
        </p:txBody>
      </p:sp>
      <p:sp>
        <p:nvSpPr>
          <p:cNvPr id="39" name="Text 37"/>
          <p:cNvSpPr txBox="1"/>
          <p:nvPr/>
        </p:nvSpPr>
        <p:spPr>
          <a:xfrm>
            <a:off x="6675120" y="4937760"/>
            <a:ext cx="4693615" cy="658368"/>
          </a:xfrm>
          <a:prstGeom prst="rect">
            <a:avLst/>
          </a:prstGeom>
          <a:noFill/>
          <a:ln/>
        </p:spPr>
        <p:txBody>
          <a:bodyPr wrap="square" lIns="0" tIns="0" rIns="0" bIns="0" rtlCol="0" anchor="ctr"/>
          <a:lstStyle/>
          <a:p>
            <a:pPr marL="0" indent="0" algn="ctr">
              <a:buNone/>
            </a:pPr>
            <a:r>
              <a:rPr lang="en-US" sz="1300" i="1" dirty="0">
                <a:solidFill>
                  <a:srgbClr val="C44E52"/>
                </a:solidFill>
                <a:latin typeface="Cambria" pitchFamily="34" charset="0"/>
                <a:ea typeface="Cambria" pitchFamily="34" charset="-122"/>
                <a:cs typeface="Cambria" pitchFamily="34" charset="-120"/>
              </a:rPr>
              <a:t>Floors ≠ Grandeur — size and location do the work, not height.</a:t>
            </a:r>
            <a:endParaRPr lang="en-US" sz="1300" dirty="0"/>
          </a:p>
        </p:txBody>
      </p:sp>
      <p:sp>
        <p:nvSpPr>
          <p:cNvPr id="40" name="Text 38"/>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From Wishes to Evidence</a:t>
            </a:r>
            <a:endParaRPr lang="en-US" sz="900" dirty="0"/>
          </a:p>
        </p:txBody>
      </p:sp>
      <p:sp>
        <p:nvSpPr>
          <p:cNvPr id="41" name="Text 39"/>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pic>
        <p:nvPicPr>
          <p:cNvPr id="42" name="Picture 41">
            <a:extLst>
              <a:ext uri="{FF2B5EF4-FFF2-40B4-BE49-F238E27FC236}">
                <a16:creationId xmlns:a16="http://schemas.microsoft.com/office/drawing/2014/main" id="{29AEDD4F-0A18-51F0-1B2E-92AC64B1E0C9}"/>
              </a:ext>
            </a:extLst>
          </p:cNvPr>
          <p:cNvPicPr>
            <a:picLocks noChangeAspect="1"/>
          </p:cNvPicPr>
          <p:nvPr/>
        </p:nvPicPr>
        <p:blipFill>
          <a:blip r:embed="rId3"/>
          <a:stretch>
            <a:fillRect/>
          </a:stretch>
        </p:blipFill>
        <p:spPr>
          <a:xfrm>
            <a:off x="0" y="1714"/>
            <a:ext cx="12192000" cy="6854573"/>
          </a:xfrm>
          <a:prstGeom prst="rect">
            <a:avLst/>
          </a:prstGeom>
        </p:spPr>
      </p:pic>
    </p:spTree>
    <p:extLst>
      <p:ext uri="{BB962C8B-B14F-4D97-AF65-F5344CB8AC3E}">
        <p14:creationId xmlns:p14="http://schemas.microsoft.com/office/powerpoint/2010/main" val="4228270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3011D8-5AF8-564A-B81E-78E66FD1C1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2610DA-8FD8-9604-2B90-1F91E053FE32}"/>
              </a:ext>
            </a:extLst>
          </p:cNvPr>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See It for Yourself</a:t>
            </a:r>
            <a:endParaRPr lang="en-US" sz="3200" dirty="0"/>
          </a:p>
        </p:txBody>
      </p:sp>
      <p:sp>
        <p:nvSpPr>
          <p:cNvPr id="3" name="Text 1">
            <a:extLst>
              <a:ext uri="{FF2B5EF4-FFF2-40B4-BE49-F238E27FC236}">
                <a16:creationId xmlns:a16="http://schemas.microsoft.com/office/drawing/2014/main" id="{3E47BFEE-79A6-B08F-2EB9-93F704D45F82}"/>
              </a:ext>
            </a:extLst>
          </p:cNvPr>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A6B75"/>
                </a:solidFill>
                <a:latin typeface="Calibri" pitchFamily="34" charset="0"/>
                <a:ea typeface="Calibri" pitchFamily="34" charset="-122"/>
                <a:cs typeface="Calibri" pitchFamily="34" charset="-120"/>
              </a:rPr>
              <a:t>The dataset's coordinates, mapped in the real world</a:t>
            </a:r>
            <a:endParaRPr lang="en-US" sz="1500" dirty="0"/>
          </a:p>
        </p:txBody>
      </p:sp>
      <p:pic>
        <p:nvPicPr>
          <p:cNvPr id="4" name="Image 0" descr="assets/house_satellite.png">
            <a:extLst>
              <a:ext uri="{FF2B5EF4-FFF2-40B4-BE49-F238E27FC236}">
                <a16:creationId xmlns:a16="http://schemas.microsoft.com/office/drawing/2014/main" id="{2E036527-3372-AEC1-1E31-624CA6C3874B}"/>
              </a:ext>
            </a:extLst>
          </p:cNvPr>
          <p:cNvPicPr>
            <a:picLocks noChangeAspect="1"/>
          </p:cNvPicPr>
          <p:nvPr/>
        </p:nvPicPr>
        <p:blipFill>
          <a:blip r:embed="rId3"/>
          <a:srcRect/>
          <a:stretch/>
        </p:blipFill>
        <p:spPr>
          <a:xfrm>
            <a:off x="548640" y="1600200"/>
            <a:ext cx="3977640" cy="4206240"/>
          </a:xfrm>
          <a:prstGeom prst="rect">
            <a:avLst/>
          </a:prstGeom>
        </p:spPr>
      </p:pic>
      <p:sp>
        <p:nvSpPr>
          <p:cNvPr id="5" name="Shape 2">
            <a:extLst>
              <a:ext uri="{FF2B5EF4-FFF2-40B4-BE49-F238E27FC236}">
                <a16:creationId xmlns:a16="http://schemas.microsoft.com/office/drawing/2014/main" id="{7645ABD3-257F-412C-999F-76B7256183FD}"/>
              </a:ext>
            </a:extLst>
          </p:cNvPr>
          <p:cNvSpPr/>
          <p:nvPr/>
        </p:nvSpPr>
        <p:spPr>
          <a:xfrm>
            <a:off x="4983480" y="1600200"/>
            <a:ext cx="6659575" cy="4206240"/>
          </a:xfrm>
          <a:prstGeom prst="roundRect">
            <a:avLst>
              <a:gd name="adj" fmla="val 2174"/>
            </a:avLst>
          </a:prstGeom>
          <a:solidFill>
            <a:srgbClr val="F2F6F8"/>
          </a:solidFill>
          <a:ln/>
          <a:effectLst>
            <a:outerShdw blurRad="76200" dist="25400" dir="5400000" algn="bl" rotWithShape="0">
              <a:srgbClr val="1A1A1A">
                <a:alpha val="15000"/>
              </a:srgbClr>
            </a:outerShdw>
          </a:effectLst>
        </p:spPr>
      </p:sp>
      <p:sp>
        <p:nvSpPr>
          <p:cNvPr id="6" name="Shape 3">
            <a:extLst>
              <a:ext uri="{FF2B5EF4-FFF2-40B4-BE49-F238E27FC236}">
                <a16:creationId xmlns:a16="http://schemas.microsoft.com/office/drawing/2014/main" id="{4B428DC9-D273-F4A7-0E56-0FB8D58E1A8A}"/>
              </a:ext>
            </a:extLst>
          </p:cNvPr>
          <p:cNvSpPr/>
          <p:nvPr/>
        </p:nvSpPr>
        <p:spPr>
          <a:xfrm>
            <a:off x="5303520" y="1874520"/>
            <a:ext cx="1554480" cy="365760"/>
          </a:xfrm>
          <a:prstGeom prst="roundRect">
            <a:avLst>
              <a:gd name="adj" fmla="val 20000"/>
            </a:avLst>
          </a:prstGeom>
          <a:solidFill>
            <a:srgbClr val="1C7293"/>
          </a:solidFill>
          <a:ln/>
        </p:spPr>
      </p:sp>
      <p:sp>
        <p:nvSpPr>
          <p:cNvPr id="7" name="Text 4">
            <a:extLst>
              <a:ext uri="{FF2B5EF4-FFF2-40B4-BE49-F238E27FC236}">
                <a16:creationId xmlns:a16="http://schemas.microsoft.com/office/drawing/2014/main" id="{7343C4C4-4AC1-DDA6-A4FA-805117C8376B}"/>
              </a:ext>
            </a:extLst>
          </p:cNvPr>
          <p:cNvSpPr txBox="1"/>
          <p:nvPr/>
        </p:nvSpPr>
        <p:spPr>
          <a:xfrm>
            <a:off x="5303520" y="187452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VERIFIED</a:t>
            </a:r>
            <a:endParaRPr lang="en-US" sz="1300" dirty="0"/>
          </a:p>
        </p:txBody>
      </p:sp>
      <p:sp>
        <p:nvSpPr>
          <p:cNvPr id="8" name="Text 5">
            <a:extLst>
              <a:ext uri="{FF2B5EF4-FFF2-40B4-BE49-F238E27FC236}">
                <a16:creationId xmlns:a16="http://schemas.microsoft.com/office/drawing/2014/main" id="{3ED0989C-7B31-A20D-6FAA-49797A53D5AE}"/>
              </a:ext>
            </a:extLst>
          </p:cNvPr>
          <p:cNvSpPr txBox="1"/>
          <p:nvPr/>
        </p:nvSpPr>
        <p:spPr>
          <a:xfrm>
            <a:off x="5303520" y="2468880"/>
            <a:ext cx="6019495" cy="502920"/>
          </a:xfrm>
          <a:prstGeom prst="rect">
            <a:avLst/>
          </a:prstGeom>
          <a:noFill/>
          <a:ln/>
        </p:spPr>
        <p:txBody>
          <a:bodyPr wrap="square" lIns="0" tIns="0" rIns="0" bIns="0" rtlCol="0" anchor="ctr"/>
          <a:lstStyle/>
          <a:p>
            <a:pPr marL="0" indent="0">
              <a:buNone/>
            </a:pPr>
            <a:r>
              <a:rPr lang="en-US" sz="2200" b="1" dirty="0">
                <a:solidFill>
                  <a:srgbClr val="21295C"/>
                </a:solidFill>
                <a:latin typeface="Cambria" pitchFamily="34" charset="0"/>
                <a:ea typeface="Cambria" pitchFamily="34" charset="-122"/>
                <a:cs typeface="Cambria" pitchFamily="34" charset="-120"/>
              </a:rPr>
              <a:t>Laurelhurst, Seattle</a:t>
            </a:r>
            <a:endParaRPr lang="en-US" sz="2200" dirty="0"/>
          </a:p>
        </p:txBody>
      </p:sp>
      <p:sp>
        <p:nvSpPr>
          <p:cNvPr id="9" name="Text 6">
            <a:extLst>
              <a:ext uri="{FF2B5EF4-FFF2-40B4-BE49-F238E27FC236}">
                <a16:creationId xmlns:a16="http://schemas.microsoft.com/office/drawing/2014/main" id="{0BA6ABA7-9ADC-ED42-9DEA-0340087402D2}"/>
              </a:ext>
            </a:extLst>
          </p:cNvPr>
          <p:cNvSpPr txBox="1"/>
          <p:nvPr/>
        </p:nvSpPr>
        <p:spPr>
          <a:xfrm>
            <a:off x="5303520" y="2971800"/>
            <a:ext cx="6019495" cy="365760"/>
          </a:xfrm>
          <a:prstGeom prst="rect">
            <a:avLst/>
          </a:prstGeom>
          <a:noFill/>
          <a:ln/>
        </p:spPr>
        <p:txBody>
          <a:bodyPr wrap="square" lIns="0" tIns="0" rIns="0" bIns="0" rtlCol="0" anchor="ctr"/>
          <a:lstStyle/>
          <a:p>
            <a:pPr marL="0" indent="0">
              <a:buNone/>
            </a:pPr>
            <a:r>
              <a:rPr lang="en-US" sz="1400" dirty="0">
                <a:solidFill>
                  <a:srgbClr val="065A82"/>
                </a:solidFill>
                <a:latin typeface="Calibri" pitchFamily="34" charset="0"/>
                <a:ea typeface="Calibri" pitchFamily="34" charset="-122"/>
                <a:cs typeface="Calibri" pitchFamily="34" charset="-120"/>
              </a:rPr>
              <a:t>47.6515° N, 122.2770° W</a:t>
            </a:r>
            <a:endParaRPr lang="en-US" sz="1400" dirty="0"/>
          </a:p>
        </p:txBody>
      </p:sp>
      <p:sp>
        <p:nvSpPr>
          <p:cNvPr id="10" name="Text 7">
            <a:extLst>
              <a:ext uri="{FF2B5EF4-FFF2-40B4-BE49-F238E27FC236}">
                <a16:creationId xmlns:a16="http://schemas.microsoft.com/office/drawing/2014/main" id="{7CB49A24-64C5-E292-ED95-19672B0533E4}"/>
              </a:ext>
            </a:extLst>
          </p:cNvPr>
          <p:cNvSpPr txBox="1"/>
          <p:nvPr/>
        </p:nvSpPr>
        <p:spPr>
          <a:xfrm>
            <a:off x="5303520" y="3520440"/>
            <a:ext cx="6019495" cy="146304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The dataset's recorded latitude and longitude place this house exactly here — an established, tree-lined street in Seattle's Laurelhurst neighborhood, minutes from Lake Washington and the University of Washington.</a:t>
            </a:r>
            <a:endParaRPr lang="en-US" sz="1300" dirty="0"/>
          </a:p>
        </p:txBody>
      </p:sp>
      <p:sp>
        <p:nvSpPr>
          <p:cNvPr id="11" name="Text 8">
            <a:extLst>
              <a:ext uri="{FF2B5EF4-FFF2-40B4-BE49-F238E27FC236}">
                <a16:creationId xmlns:a16="http://schemas.microsoft.com/office/drawing/2014/main" id="{4E60C7F3-2BF8-EBC5-D51D-C4A9DFF4F1BD}"/>
              </a:ext>
            </a:extLst>
          </p:cNvPr>
          <p:cNvSpPr txBox="1"/>
          <p:nvPr/>
        </p:nvSpPr>
        <p:spPr>
          <a:xfrm>
            <a:off x="5303520" y="5074920"/>
            <a:ext cx="6019495" cy="548640"/>
          </a:xfrm>
          <a:prstGeom prst="rect">
            <a:avLst/>
          </a:prstGeom>
          <a:noFill/>
          <a:ln/>
        </p:spPr>
        <p:txBody>
          <a:bodyPr wrap="square" lIns="0" tIns="0" rIns="0" bIns="0" rtlCol="0" anchor="t"/>
          <a:lstStyle/>
          <a:p>
            <a:pPr marL="0" indent="0">
              <a:buNone/>
            </a:pPr>
            <a:r>
              <a:rPr lang="en-US" sz="1250" i="1" dirty="0">
                <a:solidFill>
                  <a:srgbClr val="5A6B75"/>
                </a:solidFill>
                <a:latin typeface="Calibri" pitchFamily="34" charset="0"/>
                <a:ea typeface="Calibri" pitchFamily="34" charset="-122"/>
                <a:cs typeface="Calibri" pitchFamily="34" charset="-120"/>
              </a:rPr>
              <a:t>This isn't just a row in a spreadsheet — it's a real, findable address.</a:t>
            </a:r>
            <a:endParaRPr lang="en-US" sz="1250" dirty="0"/>
          </a:p>
        </p:txBody>
      </p:sp>
      <p:sp>
        <p:nvSpPr>
          <p:cNvPr id="12" name="Text 9">
            <a:extLst>
              <a:ext uri="{FF2B5EF4-FFF2-40B4-BE49-F238E27FC236}">
                <a16:creationId xmlns:a16="http://schemas.microsoft.com/office/drawing/2014/main" id="{5149A407-75DD-F311-98CA-FB33D54756BD}"/>
              </a:ext>
            </a:extLst>
          </p:cNvPr>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The Recommendation</a:t>
            </a:r>
            <a:endParaRPr lang="en-US" sz="900" dirty="0"/>
          </a:p>
        </p:txBody>
      </p:sp>
      <p:sp>
        <p:nvSpPr>
          <p:cNvPr id="13" name="Text 10">
            <a:extLst>
              <a:ext uri="{FF2B5EF4-FFF2-40B4-BE49-F238E27FC236}">
                <a16:creationId xmlns:a16="http://schemas.microsoft.com/office/drawing/2014/main" id="{8B2988BE-DCAA-C5E3-0DBA-6E6CF43646A7}"/>
              </a:ext>
            </a:extLst>
          </p:cNvPr>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pic>
        <p:nvPicPr>
          <p:cNvPr id="14" name="Picture 13">
            <a:extLst>
              <a:ext uri="{FF2B5EF4-FFF2-40B4-BE49-F238E27FC236}">
                <a16:creationId xmlns:a16="http://schemas.microsoft.com/office/drawing/2014/main" id="{933C420A-344B-0FBA-F01A-701D45401617}"/>
              </a:ext>
            </a:extLst>
          </p:cNvPr>
          <p:cNvPicPr>
            <a:picLocks noChangeAspect="1"/>
          </p:cNvPicPr>
          <p:nvPr/>
        </p:nvPicPr>
        <p:blipFill>
          <a:blip r:embed="rId4"/>
          <a:stretch>
            <a:fillRect/>
          </a:stretch>
        </p:blipFill>
        <p:spPr>
          <a:xfrm>
            <a:off x="0" y="1714"/>
            <a:ext cx="12192000" cy="6854573"/>
          </a:xfrm>
          <a:prstGeom prst="rect">
            <a:avLst/>
          </a:prstGeom>
        </p:spPr>
      </p:pic>
    </p:spTree>
    <p:extLst>
      <p:ext uri="{BB962C8B-B14F-4D97-AF65-F5344CB8AC3E}">
        <p14:creationId xmlns:p14="http://schemas.microsoft.com/office/powerpoint/2010/main" val="458747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14400" y="5120640"/>
            <a:ext cx="3291840" cy="3291840"/>
          </a:xfrm>
          <a:prstGeom prst="ellipse">
            <a:avLst/>
          </a:prstGeom>
          <a:solidFill>
            <a:srgbClr val="1C3A6B"/>
          </a:solidFill>
          <a:ln/>
        </p:spPr>
      </p:sp>
      <p:sp>
        <p:nvSpPr>
          <p:cNvPr id="3" name="Text 1"/>
          <p:cNvSpPr txBox="1"/>
          <p:nvPr/>
        </p:nvSpPr>
        <p:spPr>
          <a:xfrm>
            <a:off x="548640" y="1553028"/>
            <a:ext cx="9601200" cy="17373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Did the Data Confirm</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Our Assumptions?</a:t>
            </a:r>
            <a:endParaRPr lang="en-US" sz="4400" dirty="0"/>
          </a:p>
        </p:txBody>
      </p:sp>
      <p:sp>
        <p:nvSpPr>
          <p:cNvPr id="4" name="Text 2"/>
          <p:cNvSpPr txBox="1"/>
          <p:nvPr/>
        </p:nvSpPr>
        <p:spPr>
          <a:xfrm>
            <a:off x="548640" y="3977640"/>
            <a:ext cx="9144000" cy="457200"/>
          </a:xfrm>
          <a:prstGeom prst="rect">
            <a:avLst/>
          </a:prstGeom>
          <a:noFill/>
          <a:ln/>
        </p:spPr>
        <p:txBody>
          <a:bodyPr wrap="square" lIns="0" tIns="0" rIns="0" bIns="0" rtlCol="0" anchor="ctr"/>
          <a:lstStyle/>
          <a:p>
            <a:r>
              <a:rPr lang="en-US" sz="2400" dirty="0">
                <a:solidFill>
                  <a:srgbClr val="CADCFC"/>
                </a:solidFill>
                <a:ea typeface="+mn-lt"/>
                <a:cs typeface="+mn-lt"/>
              </a:rPr>
              <a:t>Revisiting the three hypotheses from earlier — now with real candidates in hand</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052560" cy="777240"/>
          </a:xfrm>
          <a:prstGeom prst="rect">
            <a:avLst/>
          </a:prstGeom>
          <a:noFill/>
          <a:ln/>
        </p:spPr>
        <p:txBody>
          <a:bodyPr wrap="square" lIns="0" tIns="0" rIns="0" bIns="0" rtlCol="0" anchor="t"/>
          <a:lstStyle/>
          <a:p>
            <a:pPr marL="0" indent="0">
              <a:buNone/>
            </a:pPr>
            <a:r>
              <a:rPr lang="en-US" sz="2700" b="1" dirty="0">
                <a:solidFill>
                  <a:srgbClr val="21295C"/>
                </a:solidFill>
                <a:latin typeface="Cambria" pitchFamily="34" charset="0"/>
                <a:ea typeface="Cambria" pitchFamily="34" charset="-122"/>
                <a:cs typeface="Cambria" pitchFamily="34" charset="-120"/>
              </a:rPr>
              <a:t>Insight 1: Prestige Clusters Geographically</a:t>
            </a:r>
            <a:endParaRPr lang="en-US" sz="2700" dirty="0"/>
          </a:p>
        </p:txBody>
      </p:sp>
      <p:sp>
        <p:nvSpPr>
          <p:cNvPr id="3" name="Shape 1"/>
          <p:cNvSpPr/>
          <p:nvPr/>
        </p:nvSpPr>
        <p:spPr>
          <a:xfrm>
            <a:off x="9739325" y="742950"/>
            <a:ext cx="1554480" cy="365760"/>
          </a:xfrm>
          <a:prstGeom prst="roundRect">
            <a:avLst>
              <a:gd name="adj" fmla="val 20000"/>
            </a:avLst>
          </a:prstGeom>
          <a:solidFill>
            <a:srgbClr val="1C7293"/>
          </a:solidFill>
          <a:ln/>
        </p:spPr>
      </p:sp>
      <p:sp>
        <p:nvSpPr>
          <p:cNvPr id="4" name="Text 2"/>
          <p:cNvSpPr txBox="1"/>
          <p:nvPr/>
        </p:nvSpPr>
        <p:spPr>
          <a:xfrm>
            <a:off x="9739325" y="74295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CONFIRMED</a:t>
            </a:r>
            <a:endParaRPr lang="en-US" sz="1300" dirty="0"/>
          </a:p>
        </p:txBody>
      </p:sp>
      <p:pic>
        <p:nvPicPr>
          <p:cNvPr id="5" name="Image 0" descr="assets/h1_map.png"/>
          <p:cNvPicPr>
            <a:picLocks noChangeAspect="1"/>
          </p:cNvPicPr>
          <p:nvPr/>
        </p:nvPicPr>
        <p:blipFill>
          <a:blip r:embed="rId3"/>
          <a:srcRect/>
          <a:stretch/>
        </p:blipFill>
        <p:spPr>
          <a:xfrm>
            <a:off x="882015" y="826137"/>
            <a:ext cx="7557135" cy="5763259"/>
          </a:xfrm>
          <a:prstGeom prst="rect">
            <a:avLst/>
          </a:prstGeom>
        </p:spPr>
      </p:pic>
      <p:sp>
        <p:nvSpPr>
          <p:cNvPr id="6" name="Shape 3"/>
          <p:cNvSpPr/>
          <p:nvPr/>
        </p:nvSpPr>
        <p:spPr>
          <a:xfrm>
            <a:off x="9027160" y="1429702"/>
            <a:ext cx="3165158" cy="1546543"/>
          </a:xfrm>
          <a:prstGeom prst="roundRect">
            <a:avLst>
              <a:gd name="adj" fmla="val 5882"/>
            </a:avLst>
          </a:prstGeom>
          <a:solidFill>
            <a:srgbClr val="F2F6F8"/>
          </a:solidFill>
          <a:ln/>
          <a:effectLst>
            <a:outerShdw blurRad="76200" dist="25400" dir="5400000" algn="bl" rotWithShape="0">
              <a:srgbClr val="1A1A1A">
                <a:alpha val="15000"/>
              </a:srgbClr>
            </a:outerShdw>
          </a:effectLst>
        </p:spPr>
      </p:sp>
      <p:sp>
        <p:nvSpPr>
          <p:cNvPr id="7" name="Text 4"/>
          <p:cNvSpPr txBox="1"/>
          <p:nvPr/>
        </p:nvSpPr>
        <p:spPr>
          <a:xfrm>
            <a:off x="9767570" y="1753745"/>
            <a:ext cx="1692275" cy="902588"/>
          </a:xfrm>
          <a:prstGeom prst="rect">
            <a:avLst/>
          </a:prstGeom>
          <a:noFill/>
          <a:ln/>
        </p:spPr>
        <p:txBody>
          <a:bodyPr wrap="square" lIns="0" tIns="0" rIns="0" bIns="0" rtlCol="0" anchor="b"/>
          <a:lstStyle/>
          <a:p>
            <a:pPr marL="0" indent="0" algn="ctr">
              <a:buNone/>
            </a:pPr>
            <a:r>
              <a:rPr lang="en-US" sz="5400" b="1" dirty="0">
                <a:solidFill>
                  <a:srgbClr val="C44E52"/>
                </a:solidFill>
                <a:latin typeface="Cambria" pitchFamily="34" charset="0"/>
                <a:ea typeface="Cambria" pitchFamily="34" charset="-122"/>
                <a:cs typeface="Cambria" pitchFamily="34" charset="-120"/>
              </a:rPr>
              <a:t>47%</a:t>
            </a:r>
            <a:endParaRPr lang="en-US" sz="5400" dirty="0"/>
          </a:p>
        </p:txBody>
      </p:sp>
      <p:sp>
        <p:nvSpPr>
          <p:cNvPr id="9" name="Text 6"/>
          <p:cNvSpPr txBox="1"/>
          <p:nvPr/>
        </p:nvSpPr>
        <p:spPr>
          <a:xfrm>
            <a:off x="8947785" y="3188972"/>
            <a:ext cx="3204844" cy="2215197"/>
          </a:xfrm>
          <a:prstGeom prst="rect">
            <a:avLst/>
          </a:prstGeom>
          <a:noFill/>
          <a:ln/>
        </p:spPr>
        <p:txBody>
          <a:bodyPr wrap="square" lIns="0" tIns="0" rIns="0" bIns="0" rtlCol="0" anchor="t"/>
          <a:lstStyle/>
          <a:p>
            <a:r>
              <a:rPr lang="en-US" dirty="0">
                <a:solidFill>
                  <a:srgbClr val="1F2933"/>
                </a:solidFill>
                <a:ea typeface="+mn-lt"/>
                <a:cs typeface="+mn-lt"/>
              </a:rPr>
              <a:t>Waterfront, high-grade homes concentrate in a handful of high-end pockets — not spread across the county.</a:t>
            </a:r>
            <a:endParaRPr lang="en-US" dirty="0">
              <a:ea typeface="+mn-lt"/>
              <a:cs typeface="+mn-lt"/>
            </a:endParaRPr>
          </a:p>
        </p:txBody>
      </p:sp>
      <p:sp>
        <p:nvSpPr>
          <p:cNvPr id="10" name="Text 7"/>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Did the Data Confirm Our Assumptions?</a:t>
            </a:r>
            <a:endParaRPr lang="en-US" sz="900" dirty="0"/>
          </a:p>
        </p:txBody>
      </p:sp>
      <p:sp>
        <p:nvSpPr>
          <p:cNvPr id="11" name="Text 8"/>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052560" cy="777240"/>
          </a:xfrm>
          <a:prstGeom prst="rect">
            <a:avLst/>
          </a:prstGeom>
          <a:noFill/>
          <a:ln/>
        </p:spPr>
        <p:txBody>
          <a:bodyPr wrap="square" lIns="0" tIns="0" rIns="0" bIns="0" rtlCol="0" anchor="t"/>
          <a:lstStyle/>
          <a:p>
            <a:pPr marL="0" indent="0">
              <a:buNone/>
            </a:pPr>
            <a:r>
              <a:rPr lang="en-US" sz="2700" b="1" dirty="0">
                <a:solidFill>
                  <a:srgbClr val="21295C"/>
                </a:solidFill>
                <a:latin typeface="Cambria" pitchFamily="34" charset="0"/>
                <a:ea typeface="Cambria" pitchFamily="34" charset="-122"/>
                <a:cs typeface="Cambria" pitchFamily="34" charset="-120"/>
              </a:rPr>
              <a:t>Insight 2: Premium Features Cost More</a:t>
            </a:r>
            <a:endParaRPr lang="en-US" sz="2700" dirty="0"/>
          </a:p>
        </p:txBody>
      </p:sp>
      <p:sp>
        <p:nvSpPr>
          <p:cNvPr id="3" name="Shape 1"/>
          <p:cNvSpPr/>
          <p:nvPr/>
        </p:nvSpPr>
        <p:spPr>
          <a:xfrm>
            <a:off x="10088575" y="457200"/>
            <a:ext cx="1554480" cy="365760"/>
          </a:xfrm>
          <a:prstGeom prst="roundRect">
            <a:avLst>
              <a:gd name="adj" fmla="val 20000"/>
            </a:avLst>
          </a:prstGeom>
          <a:solidFill>
            <a:srgbClr val="1C7293"/>
          </a:solidFill>
          <a:ln/>
        </p:spPr>
      </p:sp>
      <p:sp>
        <p:nvSpPr>
          <p:cNvPr id="4" name="Text 2"/>
          <p:cNvSpPr txBox="1"/>
          <p:nvPr/>
        </p:nvSpPr>
        <p:spPr>
          <a:xfrm>
            <a:off x="10088575" y="45720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CONFIRMED</a:t>
            </a:r>
            <a:endParaRPr lang="en-US" sz="1300" dirty="0"/>
          </a:p>
        </p:txBody>
      </p:sp>
      <p:graphicFrame>
        <p:nvGraphicFramePr>
          <p:cNvPr id="5" name="Chart 0"/>
          <p:cNvGraphicFramePr/>
          <p:nvPr/>
        </p:nvGraphicFramePr>
        <p:xfrm>
          <a:off x="548640" y="1737360"/>
          <a:ext cx="393192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754880" y="1737360"/>
          <a:ext cx="685800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548640" y="5897880"/>
            <a:ext cx="11078540" cy="600075"/>
          </a:xfrm>
          <a:prstGeom prst="rect">
            <a:avLst/>
          </a:prstGeom>
          <a:noFill/>
          <a:ln/>
        </p:spPr>
        <p:txBody>
          <a:bodyPr wrap="square" lIns="0" tIns="0" rIns="0" bIns="0" rtlCol="0" anchor="ctr"/>
          <a:lstStyle/>
          <a:p>
            <a:pPr algn="ctr"/>
            <a:r>
              <a:rPr lang="en-US" dirty="0">
                <a:solidFill>
                  <a:srgbClr val="5A6B75"/>
                </a:solidFill>
                <a:ea typeface="+mn-lt"/>
                <a:cs typeface="+mn-lt"/>
              </a:rPr>
              <a:t>Waterfront + high-grade homes sell for far more — and renovation adds another 36–39%, independent of condition.</a:t>
            </a:r>
            <a:endParaRPr lang="en-US">
              <a:ea typeface="+mn-lt"/>
              <a:cs typeface="+mn-lt"/>
            </a:endParaRPr>
          </a:p>
        </p:txBody>
      </p:sp>
      <p:sp>
        <p:nvSpPr>
          <p:cNvPr id="8" name="Text 4"/>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Did the Data Confirm Our Assumptions?</a:t>
            </a:r>
            <a:endParaRPr lang="en-US" sz="900" dirty="0"/>
          </a:p>
        </p:txBody>
      </p:sp>
      <p:sp>
        <p:nvSpPr>
          <p:cNvPr id="9" name="Text 5"/>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777240"/>
          </a:xfrm>
          <a:prstGeom prst="rect">
            <a:avLst/>
          </a:prstGeom>
          <a:noFill/>
          <a:ln/>
        </p:spPr>
        <p:txBody>
          <a:bodyPr wrap="square" lIns="0" tIns="0" rIns="0" bIns="0" rtlCol="0" anchor="t"/>
          <a:lstStyle/>
          <a:p>
            <a:pPr marL="0" indent="0">
              <a:buNone/>
            </a:pPr>
            <a:r>
              <a:rPr lang="en-US" sz="2700" b="1" dirty="0">
                <a:solidFill>
                  <a:srgbClr val="21295C"/>
                </a:solidFill>
                <a:latin typeface="Cambria" pitchFamily="34" charset="0"/>
                <a:ea typeface="Cambria" pitchFamily="34" charset="-122"/>
                <a:cs typeface="Cambria" pitchFamily="34" charset="-120"/>
              </a:rPr>
              <a:t>Insight 3: Resale Gains Vary by Home Type</a:t>
            </a:r>
            <a:endParaRPr lang="en-US" sz="2700" dirty="0"/>
          </a:p>
        </p:txBody>
      </p:sp>
      <p:sp>
        <p:nvSpPr>
          <p:cNvPr id="3" name="Shape 1"/>
          <p:cNvSpPr/>
          <p:nvPr/>
        </p:nvSpPr>
        <p:spPr>
          <a:xfrm>
            <a:off x="9814255" y="457200"/>
            <a:ext cx="1554480" cy="365760"/>
          </a:xfrm>
          <a:prstGeom prst="roundRect">
            <a:avLst>
              <a:gd name="adj" fmla="val 20000"/>
            </a:avLst>
          </a:prstGeom>
          <a:solidFill>
            <a:srgbClr val="1C7293"/>
          </a:solidFill>
          <a:ln/>
        </p:spPr>
      </p:sp>
      <p:sp>
        <p:nvSpPr>
          <p:cNvPr id="4" name="Text 2"/>
          <p:cNvSpPr txBox="1"/>
          <p:nvPr/>
        </p:nvSpPr>
        <p:spPr>
          <a:xfrm>
            <a:off x="9814255" y="45720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CONFIRMED*</a:t>
            </a:r>
            <a:endParaRPr lang="en-US" sz="1300" dirty="0"/>
          </a:p>
        </p:txBody>
      </p:sp>
      <p:pic>
        <p:nvPicPr>
          <p:cNvPr id="5" name="Image 0" descr="assets/h3_histogram.png"/>
          <p:cNvPicPr>
            <a:picLocks noChangeAspect="1"/>
          </p:cNvPicPr>
          <p:nvPr/>
        </p:nvPicPr>
        <p:blipFill>
          <a:blip r:embed="rId3"/>
          <a:srcRect/>
          <a:stretch/>
        </p:blipFill>
        <p:spPr>
          <a:xfrm>
            <a:off x="1180011" y="1002938"/>
            <a:ext cx="7511142" cy="4983044"/>
          </a:xfrm>
          <a:prstGeom prst="rect">
            <a:avLst/>
          </a:prstGeom>
        </p:spPr>
      </p:pic>
      <p:sp>
        <p:nvSpPr>
          <p:cNvPr id="6" name="Shape 3"/>
          <p:cNvSpPr/>
          <p:nvPr/>
        </p:nvSpPr>
        <p:spPr>
          <a:xfrm>
            <a:off x="10041708" y="1127760"/>
            <a:ext cx="1286547" cy="1378857"/>
          </a:xfrm>
          <a:prstGeom prst="roundRect">
            <a:avLst>
              <a:gd name="adj" fmla="val 6667"/>
            </a:avLst>
          </a:prstGeom>
          <a:solidFill>
            <a:srgbClr val="F2F6F8"/>
          </a:solidFill>
          <a:ln/>
          <a:effectLst>
            <a:outerShdw blurRad="76200" dist="25400" dir="5400000" algn="bl" rotWithShape="0">
              <a:srgbClr val="1A1A1A">
                <a:alpha val="15000"/>
              </a:srgbClr>
            </a:outerShdw>
          </a:effectLst>
        </p:spPr>
      </p:sp>
      <p:sp>
        <p:nvSpPr>
          <p:cNvPr id="7" name="Text 4"/>
          <p:cNvSpPr txBox="1"/>
          <p:nvPr/>
        </p:nvSpPr>
        <p:spPr>
          <a:xfrm>
            <a:off x="10418354" y="1244745"/>
            <a:ext cx="779998" cy="739866"/>
          </a:xfrm>
          <a:prstGeom prst="rect">
            <a:avLst/>
          </a:prstGeom>
          <a:noFill/>
          <a:ln/>
        </p:spPr>
        <p:txBody>
          <a:bodyPr wrap="square" lIns="0" tIns="0" rIns="0" bIns="0" rtlCol="0" anchor="b"/>
          <a:lstStyle/>
          <a:p>
            <a:pPr marL="0" indent="0" algn="ctr">
              <a:buNone/>
            </a:pPr>
            <a:r>
              <a:rPr lang="en-US" sz="2600" b="1" dirty="0">
                <a:solidFill>
                  <a:srgbClr val="065A82"/>
                </a:solidFill>
                <a:latin typeface="Cambria" pitchFamily="34" charset="0"/>
                <a:ea typeface="Cambria" pitchFamily="34" charset="-122"/>
                <a:cs typeface="Cambria" pitchFamily="34" charset="-120"/>
              </a:rPr>
              <a:t>95%</a:t>
            </a:r>
            <a:endParaRPr lang="en-US" sz="2600" dirty="0"/>
          </a:p>
        </p:txBody>
      </p:sp>
      <p:sp>
        <p:nvSpPr>
          <p:cNvPr id="8" name="Text 5"/>
          <p:cNvSpPr txBox="1"/>
          <p:nvPr/>
        </p:nvSpPr>
        <p:spPr>
          <a:xfrm>
            <a:off x="10164355" y="2792548"/>
            <a:ext cx="1048513" cy="528465"/>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of homes resold within ≈ 1 year gained value</a:t>
            </a:r>
            <a:endParaRPr lang="en-US" sz="1150" dirty="0"/>
          </a:p>
        </p:txBody>
      </p:sp>
      <p:sp>
        <p:nvSpPr>
          <p:cNvPr id="10" name="Text 7"/>
          <p:cNvSpPr txBox="1"/>
          <p:nvPr/>
        </p:nvSpPr>
        <p:spPr>
          <a:xfrm>
            <a:off x="548640" y="5989320"/>
            <a:ext cx="11094415" cy="365760"/>
          </a:xfrm>
          <a:prstGeom prst="rect">
            <a:avLst/>
          </a:prstGeom>
          <a:noFill/>
          <a:ln/>
        </p:spPr>
        <p:txBody>
          <a:bodyPr wrap="square" lIns="0" tIns="0" rIns="0" bIns="0" rtlCol="0" anchor="ctr"/>
          <a:lstStyle/>
          <a:p>
            <a:pPr marL="0" indent="0">
              <a:buNone/>
            </a:pPr>
            <a:r>
              <a:rPr lang="en-US" sz="1050" i="1" dirty="0">
                <a:solidFill>
                  <a:srgbClr val="5A6B75"/>
                </a:solidFill>
                <a:latin typeface="Calibri" pitchFamily="34" charset="0"/>
                <a:ea typeface="Calibri" pitchFamily="34" charset="-122"/>
                <a:cs typeface="Calibri" pitchFamily="34" charset="-120"/>
              </a:rPr>
              <a:t>*Confirmed in general — but no repeat sale of a home like Jennifer's exists in the data, so the realistic figure comes from the closest real comparison, not a direct precedent.</a:t>
            </a:r>
            <a:endParaRPr lang="en-US" sz="1050" dirty="0"/>
          </a:p>
        </p:txBody>
      </p:sp>
      <p:sp>
        <p:nvSpPr>
          <p:cNvPr id="11" name="Text 8"/>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Did the Data Confirm Our Assumptions?</a:t>
            </a:r>
            <a:endParaRPr lang="en-US" sz="900" dirty="0"/>
          </a:p>
        </p:txBody>
      </p:sp>
      <p:sp>
        <p:nvSpPr>
          <p:cNvPr id="12" name="Text 9"/>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extLst>
      <p:ext uri="{BB962C8B-B14F-4D97-AF65-F5344CB8AC3E}">
        <p14:creationId xmlns:p14="http://schemas.microsoft.com/office/powerpoint/2010/main" val="1628561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Recommendations for Jennifer</a:t>
            </a:r>
            <a:endParaRPr lang="en-US" sz="3200" dirty="0"/>
          </a:p>
        </p:txBody>
      </p:sp>
      <p:sp>
        <p:nvSpPr>
          <p:cNvPr id="3" name="Shape 1"/>
          <p:cNvSpPr/>
          <p:nvPr/>
        </p:nvSpPr>
        <p:spPr>
          <a:xfrm>
            <a:off x="548640" y="1691640"/>
            <a:ext cx="3520440" cy="4114800"/>
          </a:xfrm>
          <a:prstGeom prst="roundRect">
            <a:avLst>
              <a:gd name="adj" fmla="val 2597"/>
            </a:avLst>
          </a:prstGeom>
          <a:solidFill>
            <a:srgbClr val="F2F6F8"/>
          </a:solidFill>
          <a:ln/>
          <a:effectLst>
            <a:outerShdw blurRad="76200" dist="25400" dir="5400000" algn="bl" rotWithShape="0">
              <a:srgbClr val="1A1A1A">
                <a:alpha val="15000"/>
              </a:srgbClr>
            </a:outerShdw>
          </a:effectLst>
        </p:spPr>
      </p:sp>
      <p:sp>
        <p:nvSpPr>
          <p:cNvPr id="4" name="Shape 2"/>
          <p:cNvSpPr/>
          <p:nvPr/>
        </p:nvSpPr>
        <p:spPr>
          <a:xfrm>
            <a:off x="822960" y="1965960"/>
            <a:ext cx="457200" cy="457200"/>
          </a:xfrm>
          <a:prstGeom prst="ellipse">
            <a:avLst/>
          </a:prstGeom>
          <a:solidFill>
            <a:srgbClr val="065A82"/>
          </a:solidFill>
          <a:ln/>
        </p:spPr>
      </p:sp>
      <p:sp>
        <p:nvSpPr>
          <p:cNvPr id="5" name="Text 3"/>
          <p:cNvSpPr txBox="1"/>
          <p:nvPr/>
        </p:nvSpPr>
        <p:spPr>
          <a:xfrm>
            <a:off x="82296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822960" y="2606040"/>
            <a:ext cx="2971800" cy="777240"/>
          </a:xfrm>
          <a:prstGeom prst="rect">
            <a:avLst/>
          </a:prstGeom>
          <a:noFill/>
          <a:ln/>
        </p:spPr>
        <p:txBody>
          <a:bodyPr wrap="square" lIns="0" tIns="0" rIns="0" bIns="0" rtlCol="0" anchor="t"/>
          <a:lstStyle/>
          <a:p>
            <a:pPr marL="0" indent="0">
              <a:buNone/>
            </a:pPr>
            <a:r>
              <a:rPr lang="en-US" sz="1500" b="1" dirty="0">
                <a:solidFill>
                  <a:srgbClr val="21295C"/>
                </a:solidFill>
                <a:latin typeface="Calibri" pitchFamily="34" charset="0"/>
                <a:ea typeface="Calibri" pitchFamily="34" charset="-122"/>
                <a:cs typeface="Calibri" pitchFamily="34" charset="-120"/>
              </a:rPr>
              <a:t>Search the prestige clusters first</a:t>
            </a:r>
            <a:endParaRPr lang="en-US" sz="1500" dirty="0"/>
          </a:p>
        </p:txBody>
      </p:sp>
      <p:sp>
        <p:nvSpPr>
          <p:cNvPr id="7" name="Text 5"/>
          <p:cNvSpPr txBox="1"/>
          <p:nvPr/>
        </p:nvSpPr>
        <p:spPr>
          <a:xfrm>
            <a:off x="822960" y="3337560"/>
            <a:ext cx="2971800" cy="137160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The best homes cluster in a handful of zip codes — not spread across the county.</a:t>
            </a:r>
            <a:endParaRPr lang="en-US" sz="1200" dirty="0"/>
          </a:p>
        </p:txBody>
      </p:sp>
      <p:sp>
        <p:nvSpPr>
          <p:cNvPr id="8" name="Text 6"/>
          <p:cNvSpPr txBox="1"/>
          <p:nvPr/>
        </p:nvSpPr>
        <p:spPr>
          <a:xfrm>
            <a:off x="822960" y="4892040"/>
            <a:ext cx="2971800" cy="822960"/>
          </a:xfrm>
          <a:prstGeom prst="rect">
            <a:avLst/>
          </a:prstGeom>
          <a:noFill/>
          <a:ln/>
        </p:spPr>
        <p:txBody>
          <a:bodyPr wrap="square" lIns="0" tIns="0" rIns="0" bIns="0" rtlCol="0" anchor="t"/>
          <a:lstStyle/>
          <a:p>
            <a:pPr marL="0" indent="0">
              <a:buNone/>
            </a:pPr>
            <a:r>
              <a:rPr lang="en-US" sz="1000" i="1" dirty="0">
                <a:solidFill>
                  <a:srgbClr val="5A6B75"/>
                </a:solidFill>
                <a:latin typeface="Calibri" pitchFamily="34" charset="0"/>
                <a:ea typeface="Calibri" pitchFamily="34" charset="-122"/>
                <a:cs typeface="Calibri" pitchFamily="34" charset="-120"/>
              </a:rPr>
              <a:t>Assumption: Assumes these historical patterns continue to hold for homes coming to market now.</a:t>
            </a:r>
            <a:endParaRPr lang="en-US" sz="1000" dirty="0"/>
          </a:p>
        </p:txBody>
      </p:sp>
      <p:sp>
        <p:nvSpPr>
          <p:cNvPr id="9" name="Shape 7"/>
          <p:cNvSpPr/>
          <p:nvPr/>
        </p:nvSpPr>
        <p:spPr>
          <a:xfrm>
            <a:off x="4343400" y="1691640"/>
            <a:ext cx="3520440" cy="4114800"/>
          </a:xfrm>
          <a:prstGeom prst="roundRect">
            <a:avLst>
              <a:gd name="adj" fmla="val 2597"/>
            </a:avLst>
          </a:prstGeom>
          <a:solidFill>
            <a:srgbClr val="F2F6F8"/>
          </a:solidFill>
          <a:ln/>
          <a:effectLst>
            <a:outerShdw blurRad="76200" dist="25400" dir="5400000" algn="bl" rotWithShape="0">
              <a:srgbClr val="1A1A1A">
                <a:alpha val="15000"/>
              </a:srgbClr>
            </a:outerShdw>
          </a:effectLst>
        </p:spPr>
      </p:sp>
      <p:sp>
        <p:nvSpPr>
          <p:cNvPr id="10" name="Shape 8"/>
          <p:cNvSpPr/>
          <p:nvPr/>
        </p:nvSpPr>
        <p:spPr>
          <a:xfrm>
            <a:off x="4617720" y="1965960"/>
            <a:ext cx="457200" cy="457200"/>
          </a:xfrm>
          <a:prstGeom prst="ellipse">
            <a:avLst/>
          </a:prstGeom>
          <a:solidFill>
            <a:srgbClr val="065A82"/>
          </a:solidFill>
          <a:ln/>
        </p:spPr>
      </p:sp>
      <p:sp>
        <p:nvSpPr>
          <p:cNvPr id="11" name="Text 9"/>
          <p:cNvSpPr txBox="1"/>
          <p:nvPr/>
        </p:nvSpPr>
        <p:spPr>
          <a:xfrm>
            <a:off x="461772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4617720" y="2606040"/>
            <a:ext cx="2971800" cy="777240"/>
          </a:xfrm>
          <a:prstGeom prst="rect">
            <a:avLst/>
          </a:prstGeom>
          <a:noFill/>
          <a:ln/>
        </p:spPr>
        <p:txBody>
          <a:bodyPr wrap="square" lIns="0" tIns="0" rIns="0" bIns="0" rtlCol="0" anchor="t"/>
          <a:lstStyle/>
          <a:p>
            <a:pPr marL="0" indent="0">
              <a:buNone/>
            </a:pPr>
            <a:r>
              <a:rPr lang="en-US" sz="1500" b="1" dirty="0">
                <a:solidFill>
                  <a:srgbClr val="21295C"/>
                </a:solidFill>
                <a:latin typeface="Calibri" pitchFamily="34" charset="0"/>
                <a:ea typeface="Calibri" pitchFamily="34" charset="-122"/>
                <a:cs typeface="Calibri" pitchFamily="34" charset="-120"/>
              </a:rPr>
              <a:t>Move on the home in zip 98040</a:t>
            </a:r>
            <a:endParaRPr lang="en-US" sz="1500" dirty="0"/>
          </a:p>
        </p:txBody>
      </p:sp>
      <p:sp>
        <p:nvSpPr>
          <p:cNvPr id="13" name="Text 11"/>
          <p:cNvSpPr txBox="1"/>
          <p:nvPr/>
        </p:nvSpPr>
        <p:spPr>
          <a:xfrm>
            <a:off x="4617720" y="3337560"/>
            <a:ext cx="2971800" cy="137160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Highest grade of the three candidates, and the biggest standout from its neighbors.</a:t>
            </a:r>
            <a:endParaRPr lang="en-US" sz="1200" dirty="0"/>
          </a:p>
        </p:txBody>
      </p:sp>
      <p:sp>
        <p:nvSpPr>
          <p:cNvPr id="14" name="Text 12"/>
          <p:cNvSpPr txBox="1"/>
          <p:nvPr/>
        </p:nvSpPr>
        <p:spPr>
          <a:xfrm>
            <a:off x="4617720" y="4892040"/>
            <a:ext cx="2971800" cy="822960"/>
          </a:xfrm>
          <a:prstGeom prst="rect">
            <a:avLst/>
          </a:prstGeom>
          <a:noFill/>
          <a:ln/>
        </p:spPr>
        <p:txBody>
          <a:bodyPr wrap="square" lIns="0" tIns="0" rIns="0" bIns="0" rtlCol="0" anchor="t"/>
          <a:lstStyle/>
          <a:p>
            <a:pPr marL="0" indent="0">
              <a:buNone/>
            </a:pPr>
            <a:r>
              <a:rPr lang="en-US" sz="1000" i="1" dirty="0">
                <a:solidFill>
                  <a:srgbClr val="5A6B75"/>
                </a:solidFill>
                <a:latin typeface="Calibri" pitchFamily="34" charset="0"/>
                <a:ea typeface="Calibri" pitchFamily="34" charset="-122"/>
                <a:cs typeface="Calibri" pitchFamily="34" charset="-120"/>
              </a:rPr>
              <a:t>Assumption: Assumes the property's condition and features are unchanged since its last recorded sale.</a:t>
            </a:r>
            <a:endParaRPr lang="en-US" sz="1000" dirty="0"/>
          </a:p>
        </p:txBody>
      </p:sp>
      <p:sp>
        <p:nvSpPr>
          <p:cNvPr id="15" name="Shape 13"/>
          <p:cNvSpPr/>
          <p:nvPr/>
        </p:nvSpPr>
        <p:spPr>
          <a:xfrm>
            <a:off x="8138160" y="1691640"/>
            <a:ext cx="3520440" cy="4114800"/>
          </a:xfrm>
          <a:prstGeom prst="roundRect">
            <a:avLst>
              <a:gd name="adj" fmla="val 2597"/>
            </a:avLst>
          </a:prstGeom>
          <a:solidFill>
            <a:srgbClr val="F2F6F8"/>
          </a:solidFill>
          <a:ln/>
          <a:effectLst>
            <a:outerShdw blurRad="76200" dist="25400" dir="5400000" algn="bl" rotWithShape="0">
              <a:srgbClr val="1A1A1A">
                <a:alpha val="15000"/>
              </a:srgbClr>
            </a:outerShdw>
          </a:effectLst>
        </p:spPr>
      </p:sp>
      <p:sp>
        <p:nvSpPr>
          <p:cNvPr id="16" name="Shape 14"/>
          <p:cNvSpPr/>
          <p:nvPr/>
        </p:nvSpPr>
        <p:spPr>
          <a:xfrm>
            <a:off x="8412480" y="1965960"/>
            <a:ext cx="457200" cy="457200"/>
          </a:xfrm>
          <a:prstGeom prst="ellipse">
            <a:avLst/>
          </a:prstGeom>
          <a:solidFill>
            <a:srgbClr val="065A82"/>
          </a:solidFill>
          <a:ln/>
        </p:spPr>
      </p:sp>
      <p:sp>
        <p:nvSpPr>
          <p:cNvPr id="17" name="Text 15"/>
          <p:cNvSpPr txBox="1"/>
          <p:nvPr/>
        </p:nvSpPr>
        <p:spPr>
          <a:xfrm>
            <a:off x="841248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8412480" y="2606040"/>
            <a:ext cx="2971800" cy="777240"/>
          </a:xfrm>
          <a:prstGeom prst="rect">
            <a:avLst/>
          </a:prstGeom>
          <a:noFill/>
          <a:ln/>
        </p:spPr>
        <p:txBody>
          <a:bodyPr wrap="square" lIns="0" tIns="0" rIns="0" bIns="0" rtlCol="0" anchor="t"/>
          <a:lstStyle/>
          <a:p>
            <a:pPr marL="0" indent="0">
              <a:buNone/>
            </a:pPr>
            <a:r>
              <a:rPr lang="en-US" sz="1500" b="1" dirty="0">
                <a:solidFill>
                  <a:srgbClr val="21295C"/>
                </a:solidFill>
                <a:latin typeface="Calibri" pitchFamily="34" charset="0"/>
                <a:ea typeface="Calibri" pitchFamily="34" charset="-122"/>
                <a:cs typeface="Calibri" pitchFamily="34" charset="-120"/>
              </a:rPr>
              <a:t>Set a realistic resale target</a:t>
            </a:r>
            <a:endParaRPr lang="en-US" sz="1500" dirty="0"/>
          </a:p>
        </p:txBody>
      </p:sp>
      <p:sp>
        <p:nvSpPr>
          <p:cNvPr id="19" name="Text 17"/>
          <p:cNvSpPr txBox="1"/>
          <p:nvPr/>
        </p:nvSpPr>
        <p:spPr>
          <a:xfrm>
            <a:off x="8412480" y="3337560"/>
            <a:ext cx="2971800" cy="137160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Budget a moderate ~20% gain — not the inflated 57% headline.</a:t>
            </a:r>
            <a:endParaRPr lang="en-US" sz="1200" dirty="0"/>
          </a:p>
        </p:txBody>
      </p:sp>
      <p:sp>
        <p:nvSpPr>
          <p:cNvPr id="20" name="Text 18"/>
          <p:cNvSpPr txBox="1"/>
          <p:nvPr/>
        </p:nvSpPr>
        <p:spPr>
          <a:xfrm>
            <a:off x="8412480" y="4892040"/>
            <a:ext cx="2971800" cy="822960"/>
          </a:xfrm>
          <a:prstGeom prst="rect">
            <a:avLst/>
          </a:prstGeom>
          <a:noFill/>
          <a:ln/>
        </p:spPr>
        <p:txBody>
          <a:bodyPr wrap="square" lIns="0" tIns="0" rIns="0" bIns="0" rtlCol="0" anchor="t"/>
          <a:lstStyle/>
          <a:p>
            <a:pPr marL="0" indent="0">
              <a:buNone/>
            </a:pPr>
            <a:r>
              <a:rPr lang="en-US" sz="1000" i="1" dirty="0">
                <a:solidFill>
                  <a:srgbClr val="5A6B75"/>
                </a:solidFill>
                <a:latin typeface="Calibri" pitchFamily="34" charset="0"/>
                <a:ea typeface="Calibri" pitchFamily="34" charset="-122"/>
                <a:cs typeface="Calibri" pitchFamily="34" charset="-120"/>
              </a:rPr>
              <a:t>Assumption: No repeat-sold comparable in the dataset was confirmed waterfront, so this benchmark carries extra uncertainty.</a:t>
            </a:r>
            <a:endParaRPr lang="en-US" sz="1000" dirty="0"/>
          </a:p>
        </p:txBody>
      </p:sp>
      <p:sp>
        <p:nvSpPr>
          <p:cNvPr id="21" name="Text 19"/>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Recommendations</a:t>
            </a:r>
            <a:endParaRPr lang="en-US" sz="900" dirty="0"/>
          </a:p>
        </p:txBody>
      </p:sp>
      <p:sp>
        <p:nvSpPr>
          <p:cNvPr id="22" name="Text 20"/>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extLst>
      <p:ext uri="{BB962C8B-B14F-4D97-AF65-F5344CB8AC3E}">
        <p14:creationId xmlns:p14="http://schemas.microsoft.com/office/powerpoint/2010/main" val="610158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t"/>
          <a:lstStyle/>
          <a:p>
            <a:pPr marL="0" indent="0">
              <a:buNone/>
            </a:pPr>
            <a:r>
              <a:rPr lang="en-US" sz="3200" b="1" dirty="0">
                <a:solidFill>
                  <a:srgbClr val="21295C"/>
                </a:solidFill>
                <a:latin typeface="Cambria" pitchFamily="34" charset="0"/>
                <a:ea typeface="Cambria" pitchFamily="34" charset="-122"/>
                <a:cs typeface="Cambria" pitchFamily="34" charset="-120"/>
              </a:rPr>
              <a:t>Limitations &amp; Honest Caveats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A6B75"/>
                </a:solidFill>
                <a:latin typeface="Calibri" pitchFamily="34" charset="0"/>
                <a:ea typeface="Calibri" pitchFamily="34" charset="-122"/>
                <a:cs typeface="Calibri" pitchFamily="34" charset="-120"/>
              </a:rPr>
              <a:t>What this analysis can't fully answer</a:t>
            </a:r>
            <a:endParaRPr lang="en-US" sz="1500" dirty="0"/>
          </a:p>
        </p:txBody>
      </p:sp>
      <p:sp>
        <p:nvSpPr>
          <p:cNvPr id="4" name="Shape 2"/>
          <p:cNvSpPr/>
          <p:nvPr/>
        </p:nvSpPr>
        <p:spPr>
          <a:xfrm>
            <a:off x="548640" y="1828800"/>
            <a:ext cx="256032" cy="256032"/>
          </a:xfrm>
          <a:prstGeom prst="ellipse">
            <a:avLst/>
          </a:prstGeom>
          <a:solidFill>
            <a:srgbClr val="1C7293"/>
          </a:solidFill>
          <a:ln/>
        </p:spPr>
      </p:sp>
      <p:sp>
        <p:nvSpPr>
          <p:cNvPr id="5" name="Text 3"/>
          <p:cNvSpPr txBox="1"/>
          <p:nvPr/>
        </p:nvSpPr>
        <p:spPr>
          <a:xfrm>
            <a:off x="548640" y="182880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005840" y="1783080"/>
            <a:ext cx="10637215" cy="777240"/>
          </a:xfrm>
          <a:prstGeom prst="rect">
            <a:avLst/>
          </a:prstGeom>
          <a:noFill/>
          <a:ln/>
        </p:spPr>
        <p:txBody>
          <a:bodyPr wrap="square" lIns="0" tIns="0" rIns="0" bIns="0" rtlCol="0" anchor="ctr"/>
          <a:lstStyle/>
          <a:p>
            <a:r>
              <a:rPr lang="en-US" sz="2000" dirty="0"/>
              <a:t>No listing-date or days-on-market data — timing was estimated, not observed.</a:t>
            </a:r>
            <a:endParaRPr lang="en-US" sz="2000" dirty="0">
              <a:ea typeface="Calibri"/>
              <a:cs typeface="Calibri"/>
            </a:endParaRPr>
          </a:p>
        </p:txBody>
      </p:sp>
      <p:sp>
        <p:nvSpPr>
          <p:cNvPr id="7" name="Shape 5"/>
          <p:cNvSpPr/>
          <p:nvPr/>
        </p:nvSpPr>
        <p:spPr>
          <a:xfrm>
            <a:off x="548640" y="2697480"/>
            <a:ext cx="256032" cy="256032"/>
          </a:xfrm>
          <a:prstGeom prst="ellipse">
            <a:avLst/>
          </a:prstGeom>
          <a:solidFill>
            <a:srgbClr val="1C7293"/>
          </a:solidFill>
          <a:ln/>
        </p:spPr>
      </p:sp>
      <p:sp>
        <p:nvSpPr>
          <p:cNvPr id="8" name="Text 6"/>
          <p:cNvSpPr txBox="1"/>
          <p:nvPr/>
        </p:nvSpPr>
        <p:spPr>
          <a:xfrm>
            <a:off x="548640" y="269748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1005840" y="2651760"/>
            <a:ext cx="10637215" cy="777240"/>
          </a:xfrm>
          <a:prstGeom prst="rect">
            <a:avLst/>
          </a:prstGeom>
          <a:noFill/>
          <a:ln/>
        </p:spPr>
        <p:txBody>
          <a:bodyPr wrap="square" lIns="0" tIns="0" rIns="0" bIns="0" rtlCol="0" anchor="ctr"/>
          <a:lstStyle/>
          <a:p>
            <a:r>
              <a:rPr lang="en-US" sz="2000" dirty="0">
                <a:solidFill>
                  <a:srgbClr val="1F2933"/>
                </a:solidFill>
                <a:ea typeface="+mn-lt"/>
                <a:cs typeface="+mn-lt"/>
              </a:rPr>
              <a:t>No repeat-sold home </a:t>
            </a:r>
            <a:r>
              <a:rPr lang="en-US" sz="2000" dirty="0"/>
              <a:t>was</a:t>
            </a:r>
            <a:r>
              <a:rPr lang="en-US" sz="2000" dirty="0">
                <a:solidFill>
                  <a:srgbClr val="1F2933"/>
                </a:solidFill>
                <a:ea typeface="+mn-lt"/>
                <a:cs typeface="+mn-lt"/>
              </a:rPr>
              <a:t> confirmed waterfront — the resale benchmark is an approximation.</a:t>
            </a:r>
            <a:endParaRPr lang="en-US" sz="2000">
              <a:ea typeface="+mn-lt"/>
              <a:cs typeface="+mn-lt"/>
            </a:endParaRPr>
          </a:p>
        </p:txBody>
      </p:sp>
      <p:sp>
        <p:nvSpPr>
          <p:cNvPr id="10" name="Shape 8"/>
          <p:cNvSpPr/>
          <p:nvPr/>
        </p:nvSpPr>
        <p:spPr>
          <a:xfrm>
            <a:off x="548640" y="3566160"/>
            <a:ext cx="256032" cy="256032"/>
          </a:xfrm>
          <a:prstGeom prst="ellipse">
            <a:avLst/>
          </a:prstGeom>
          <a:solidFill>
            <a:srgbClr val="1C7293"/>
          </a:solidFill>
          <a:ln/>
        </p:spPr>
      </p:sp>
      <p:sp>
        <p:nvSpPr>
          <p:cNvPr id="11" name="Text 9"/>
          <p:cNvSpPr txBox="1"/>
          <p:nvPr/>
        </p:nvSpPr>
        <p:spPr>
          <a:xfrm>
            <a:off x="548640" y="35661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005840" y="3520440"/>
            <a:ext cx="10637215" cy="777240"/>
          </a:xfrm>
          <a:prstGeom prst="rect">
            <a:avLst/>
          </a:prstGeom>
          <a:noFill/>
          <a:ln/>
        </p:spPr>
        <p:txBody>
          <a:bodyPr wrap="square" lIns="0" tIns="0" rIns="0" bIns="0" rtlCol="0" anchor="ctr"/>
          <a:lstStyle/>
          <a:p>
            <a:r>
              <a:rPr lang="en-US" sz="2000" dirty="0">
                <a:solidFill>
                  <a:srgbClr val="1F2933"/>
                </a:solidFill>
                <a:ea typeface="+mn-lt"/>
                <a:cs typeface="+mn-lt"/>
              </a:rPr>
              <a:t>Renovation's price boost is a correlation, not proven causation.</a:t>
            </a:r>
            <a:endParaRPr lang="en-US" sz="2000" dirty="0">
              <a:ea typeface="+mn-lt"/>
              <a:cs typeface="+mn-lt"/>
            </a:endParaRPr>
          </a:p>
        </p:txBody>
      </p:sp>
      <p:sp>
        <p:nvSpPr>
          <p:cNvPr id="13" name="Shape 11"/>
          <p:cNvSpPr/>
          <p:nvPr/>
        </p:nvSpPr>
        <p:spPr>
          <a:xfrm>
            <a:off x="548640" y="4434840"/>
            <a:ext cx="256032" cy="256032"/>
          </a:xfrm>
          <a:prstGeom prst="ellipse">
            <a:avLst/>
          </a:prstGeom>
          <a:solidFill>
            <a:srgbClr val="1C7293"/>
          </a:solidFill>
          <a:ln/>
        </p:spPr>
      </p:sp>
      <p:sp>
        <p:nvSpPr>
          <p:cNvPr id="14" name="Text 12"/>
          <p:cNvSpPr txBox="1"/>
          <p:nvPr/>
        </p:nvSpPr>
        <p:spPr>
          <a:xfrm>
            <a:off x="548640" y="443484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05840" y="4389120"/>
            <a:ext cx="10637215" cy="777240"/>
          </a:xfrm>
          <a:prstGeom prst="rect">
            <a:avLst/>
          </a:prstGeom>
          <a:noFill/>
          <a:ln/>
        </p:spPr>
        <p:txBody>
          <a:bodyPr wrap="square" lIns="0" tIns="0" rIns="0" bIns="0" rtlCol="0" anchor="ctr"/>
          <a:lstStyle/>
          <a:p>
            <a:r>
              <a:rPr lang="en-US" sz="2000" dirty="0">
                <a:solidFill>
                  <a:srgbClr val="1F2933"/>
                </a:solidFill>
                <a:ea typeface="+mn-lt"/>
                <a:cs typeface="+mn-lt"/>
              </a:rPr>
              <a:t>Some fields (waterfront, view, renovation year) needed cleaning assumptions.</a:t>
            </a:r>
            <a:endParaRPr lang="en-US" sz="2000" dirty="0">
              <a:ea typeface="+mn-lt"/>
              <a:cs typeface="+mn-lt"/>
            </a:endParaRPr>
          </a:p>
        </p:txBody>
      </p:sp>
      <p:sp>
        <p:nvSpPr>
          <p:cNvPr id="16" name="Shape 14"/>
          <p:cNvSpPr/>
          <p:nvPr/>
        </p:nvSpPr>
        <p:spPr>
          <a:xfrm>
            <a:off x="548640" y="5303520"/>
            <a:ext cx="256032" cy="256032"/>
          </a:xfrm>
          <a:prstGeom prst="ellipse">
            <a:avLst/>
          </a:prstGeom>
          <a:solidFill>
            <a:srgbClr val="1C7293"/>
          </a:solidFill>
          <a:ln/>
        </p:spPr>
      </p:sp>
      <p:sp>
        <p:nvSpPr>
          <p:cNvPr id="17" name="Text 15"/>
          <p:cNvSpPr txBox="1"/>
          <p:nvPr/>
        </p:nvSpPr>
        <p:spPr>
          <a:xfrm>
            <a:off x="548640" y="530352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1005840" y="5257800"/>
            <a:ext cx="10637215" cy="777240"/>
          </a:xfrm>
          <a:prstGeom prst="rect">
            <a:avLst/>
          </a:prstGeom>
          <a:noFill/>
          <a:ln/>
        </p:spPr>
        <p:txBody>
          <a:bodyPr wrap="square" lIns="0" tIns="0" rIns="0" bIns="0" rtlCol="0" anchor="ctr"/>
          <a:lstStyle/>
          <a:p>
            <a:r>
              <a:rPr lang="en-US" sz="2000" dirty="0">
                <a:solidFill>
                  <a:srgbClr val="1F2933"/>
                </a:solidFill>
                <a:ea typeface="+mn-lt"/>
                <a:cs typeface="+mn-lt"/>
              </a:rPr>
              <a:t>Data reflects 2014–15 sales — not today's market.</a:t>
            </a:r>
            <a:endParaRPr lang="en-US" sz="2000" dirty="0">
              <a:ea typeface="+mn-lt"/>
              <a:cs typeface="+mn-lt"/>
            </a:endParaRPr>
          </a:p>
        </p:txBody>
      </p:sp>
      <p:sp>
        <p:nvSpPr>
          <p:cNvPr id="19" name="Text 17"/>
          <p:cNvSpPr txBox="1"/>
          <p:nvPr/>
        </p:nvSpPr>
        <p:spPr>
          <a:xfrm>
            <a:off x="548640" y="6446520"/>
            <a:ext cx="11094415" cy="274320"/>
          </a:xfrm>
          <a:prstGeom prst="rect">
            <a:avLst/>
          </a:prstGeom>
          <a:noFill/>
          <a:ln/>
        </p:spPr>
        <p:txBody>
          <a:bodyPr wrap="square" lIns="0" tIns="0" rIns="0" bIns="0" rtlCol="0" anchor="ctr"/>
          <a:lstStyle/>
          <a:p>
            <a:pPr marL="0" indent="0" algn="l">
              <a:buNone/>
            </a:pPr>
            <a:r>
              <a:rPr lang="en-US" sz="900" dirty="0">
                <a:solidFill>
                  <a:srgbClr val="5A6B75"/>
                </a:solidFill>
                <a:latin typeface="Calibri" pitchFamily="34" charset="0"/>
                <a:ea typeface="Calibri" pitchFamily="34" charset="-122"/>
                <a:cs typeface="Calibri" pitchFamily="34" charset="-120"/>
              </a:rPr>
              <a:t>Limitations</a:t>
            </a:r>
            <a:endParaRPr lang="en-US" sz="900" dirty="0"/>
          </a:p>
        </p:txBody>
      </p:sp>
      <p:sp>
        <p:nvSpPr>
          <p:cNvPr id="20" name="Text 18"/>
          <p:cNvSpPr txBox="1"/>
          <p:nvPr/>
        </p:nvSpPr>
        <p:spPr>
          <a:xfrm>
            <a:off x="548640" y="6446520"/>
            <a:ext cx="11094415" cy="274320"/>
          </a:xfrm>
          <a:prstGeom prst="rect">
            <a:avLst/>
          </a:prstGeom>
          <a:noFill/>
          <a:ln/>
        </p:spPr>
        <p:txBody>
          <a:bodyPr wrap="square" lIns="0" tIns="0" rIns="0" bIns="0"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Jennifer Montgomery Buyer Profile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875520" y="-914400"/>
            <a:ext cx="3657600" cy="3657600"/>
          </a:xfrm>
          <a:prstGeom prst="ellipse">
            <a:avLst/>
          </a:prstGeom>
          <a:solidFill>
            <a:srgbClr val="1C3A6B"/>
          </a:solidFill>
          <a:ln/>
        </p:spPr>
      </p:sp>
      <p:sp>
        <p:nvSpPr>
          <p:cNvPr id="3" name="Text 1"/>
          <p:cNvSpPr txBox="1"/>
          <p:nvPr/>
        </p:nvSpPr>
        <p:spPr>
          <a:xfrm>
            <a:off x="548640" y="2468880"/>
            <a:ext cx="914400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4" name="Text 2"/>
          <p:cNvSpPr txBox="1"/>
          <p:nvPr/>
        </p:nvSpPr>
        <p:spPr>
          <a:xfrm>
            <a:off x="548640" y="3429000"/>
            <a:ext cx="9144000" cy="54864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Questions &amp; Discussion</a:t>
            </a:r>
            <a:endParaRPr lang="en-US" sz="1900" dirty="0"/>
          </a:p>
        </p:txBody>
      </p:sp>
      <p:sp>
        <p:nvSpPr>
          <p:cNvPr id="5" name="Text 3"/>
          <p:cNvSpPr txBox="1"/>
          <p:nvPr/>
        </p:nvSpPr>
        <p:spPr>
          <a:xfrm>
            <a:off x="548640" y="6126480"/>
            <a:ext cx="9144000" cy="365760"/>
          </a:xfrm>
          <a:prstGeom prst="rect">
            <a:avLst/>
          </a:prstGeom>
          <a:noFill/>
          <a:ln/>
        </p:spPr>
        <p:txBody>
          <a:bodyPr wrap="square" lIns="0" tIns="0" rIns="0" bIns="0" rtlCol="0" anchor="ctr"/>
          <a:lstStyle/>
          <a:p>
            <a:pPr marL="0" indent="0">
              <a:buNone/>
            </a:pPr>
            <a:r>
              <a:rPr lang="en-US" sz="1200" dirty="0">
                <a:solidFill>
                  <a:srgbClr val="9FB3D8"/>
                </a:solidFill>
                <a:latin typeface="Calibri" pitchFamily="34" charset="0"/>
                <a:ea typeface="Calibri" pitchFamily="34" charset="-122"/>
                <a:cs typeface="Calibri" pitchFamily="34" charset="-120"/>
              </a:rPr>
              <a:t>Zina  |  King County Housing Analysis for Jennifer Montgomery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227</cp:revision>
  <dcterms:created xsi:type="dcterms:W3CDTF">2026-09-17T15:16:59Z</dcterms:created>
  <dcterms:modified xsi:type="dcterms:W3CDTF">2026-09-18T10:56:54Z</dcterms:modified>
</cp:coreProperties>
</file>